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2.xml" ContentType="application/inkml+xml"/>
  <Override PartName="/ppt/ink/ink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74" r:id="rId2"/>
    <p:sldId id="27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1" r:id="rId13"/>
    <p:sldId id="272" r:id="rId14"/>
    <p:sldId id="277" r:id="rId15"/>
    <p:sldId id="273" r:id="rId16"/>
    <p:sldId id="275" r:id="rId17"/>
    <p:sldId id="268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648D"/>
    <a:srgbClr val="156D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C808A2-4528-4049-A2CD-746E4CDE9F5A}" v="1693" dt="2025-11-17T21:40:54.551"/>
    <p1510:client id="{0D2E7733-6BEE-B8BE-53A0-CA7D1503B678}" v="552" dt="2025-11-17T19:28:55.453"/>
    <p1510:client id="{25AB752E-A140-0285-CDD9-9166B3F2E411}" v="255" dt="2025-11-17T14:26:41.935"/>
    <p1510:client id="{37EDA83E-4893-23FE-302B-51CF06FF6702}" v="22" dt="2025-11-17T21:37:04.222"/>
    <p1510:client id="{3D0AF455-C9D5-B1EF-13CC-33C48DB2DD24}" v="576" dt="2025-11-17T17:33:07.246"/>
    <p1510:client id="{47BA940D-F2E7-CE8B-4923-271F9A921ACD}" v="37" dt="2025-11-17T16:05:53.365"/>
    <p1510:client id="{52EA5D4E-6077-5D2A-09F9-931A3291B283}" v="123" dt="2025-11-17T14:25:01.288"/>
    <p1510:client id="{7D5F737F-55C3-5799-6DF5-BE620981CFD3}" v="42" dt="2025-11-17T10:22:47.650"/>
    <p1510:client id="{810AC734-2C2F-E8CF-7ED3-CD780A4C671A}" v="23" dt="2025-11-17T21:23:48.032"/>
    <p1510:client id="{AA3D5411-3D1D-8A25-562A-0676D59A8124}" v="285" dt="2025-11-17T20:22:34.141"/>
    <p1510:client id="{AAE18088-DDE9-46AA-A49D-D3DCEE69B462}" v="7" dt="2025-11-17T10:09:48.369"/>
    <p1510:client id="{DCFB64E1-3F2D-4375-63B0-146F94D3F436}" v="218" dt="2025-11-17T12:55:30.645"/>
    <p1510:client id="{EC3DCC81-F0D7-64E0-8021-C15BF9807160}" v="263" dt="2025-11-17T13:55:17.227"/>
    <p1510:client id="{F7A78CD8-C055-8900-0B73-0E5D852BACD0}" v="4" dt="2025-11-17T12:02:45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30568D-95CA-46AF-A10A-AD4FDE10136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69CD2783-2A05-4E97-9CC3-A105ECBBD5F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Develop an end-to-end pipeline to read and preprocess teacher and student answers </a:t>
          </a:r>
        </a:p>
      </dgm:t>
    </dgm:pt>
    <dgm:pt modelId="{7D175339-D5AD-459B-9EA6-BF61AA8017DC}" type="parTrans" cxnId="{4803E9A7-6E4A-407C-8B05-81CC7BEF90A1}">
      <dgm:prSet/>
      <dgm:spPr/>
      <dgm:t>
        <a:bodyPr/>
        <a:lstStyle/>
        <a:p>
          <a:endParaRPr lang="en-US"/>
        </a:p>
      </dgm:t>
    </dgm:pt>
    <dgm:pt modelId="{60A6DEFA-B91B-4C22-B38C-46F509BF6B97}" type="sibTrans" cxnId="{4803E9A7-6E4A-407C-8B05-81CC7BEF90A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ADF51C2-B802-415C-94F8-3B628C89D15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Implement and compare multiple models</a:t>
          </a:r>
        </a:p>
      </dgm:t>
    </dgm:pt>
    <dgm:pt modelId="{9B2FFE67-9E3D-40FB-A157-1940B8A4CF90}" type="parTrans" cxnId="{B10029CF-588E-4AC2-9B6A-F3278EA7A5F9}">
      <dgm:prSet/>
      <dgm:spPr/>
      <dgm:t>
        <a:bodyPr/>
        <a:lstStyle/>
        <a:p>
          <a:endParaRPr lang="en-US"/>
        </a:p>
      </dgm:t>
    </dgm:pt>
    <dgm:pt modelId="{AFAA0CFC-C703-4234-8656-21BDEA086F09}" type="sibTrans" cxnId="{B10029CF-588E-4AC2-9B6A-F3278EA7A5F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3ADFF2A-B733-472B-B9F3-439CBBFD04F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Baseline: TF-IDF + Regression</a:t>
          </a:r>
        </a:p>
      </dgm:t>
    </dgm:pt>
    <dgm:pt modelId="{11F1BDD2-0D1F-4141-AD98-1ED95C994051}" type="parTrans" cxnId="{474F3BE3-5331-468E-94E8-3ED89FECF96C}">
      <dgm:prSet/>
      <dgm:spPr/>
      <dgm:t>
        <a:bodyPr/>
        <a:lstStyle/>
        <a:p>
          <a:endParaRPr lang="en-US"/>
        </a:p>
      </dgm:t>
    </dgm:pt>
    <dgm:pt modelId="{702EE2BF-BF92-4180-A059-CF046E92B51B}" type="sibTrans" cxnId="{474F3BE3-5331-468E-94E8-3ED89FECF96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BB3AC76-CBDF-455D-BC98-D01F4C427E1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Advanced: BERT / Cross-Encoder</a:t>
          </a:r>
        </a:p>
      </dgm:t>
    </dgm:pt>
    <dgm:pt modelId="{3A93DF0F-2371-4F04-8331-2816C14A1268}" type="parTrans" cxnId="{838AA485-1FCF-45C5-BFE0-D9D1D368A400}">
      <dgm:prSet/>
      <dgm:spPr/>
      <dgm:t>
        <a:bodyPr/>
        <a:lstStyle/>
        <a:p>
          <a:endParaRPr lang="en-US"/>
        </a:p>
      </dgm:t>
    </dgm:pt>
    <dgm:pt modelId="{B5FD11D8-5F0F-43D6-BF65-93D42FE6C95B}" type="sibTrans" cxnId="{838AA485-1FCF-45C5-BFE0-D9D1D368A4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0BB5766-E8C4-43CE-A001-D2F1DB0FED1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Evaluate model accuracy using metrics like QWK and MSE</a:t>
          </a:r>
        </a:p>
      </dgm:t>
    </dgm:pt>
    <dgm:pt modelId="{12FC0771-0391-4401-B84F-69215A4945B9}" type="parTrans" cxnId="{9F70FC57-C64A-4770-A1A7-E4F7B6AB6EF7}">
      <dgm:prSet/>
      <dgm:spPr/>
      <dgm:t>
        <a:bodyPr/>
        <a:lstStyle/>
        <a:p>
          <a:endParaRPr lang="en-US"/>
        </a:p>
      </dgm:t>
    </dgm:pt>
    <dgm:pt modelId="{1B8DB99B-2158-47F7-B0B7-756A5F2D3412}" type="sibTrans" cxnId="{9F70FC57-C64A-4770-A1A7-E4F7B6AB6E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E765C1C-2BBC-4C3D-8E0C-68D164F3339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Produce final graded outputs and ensure the system is scalable, interpretable, and ready for deployment.</a:t>
          </a:r>
        </a:p>
      </dgm:t>
    </dgm:pt>
    <dgm:pt modelId="{7C4431E6-F860-41F5-A95B-7CA1885E197A}" type="parTrans" cxnId="{56F059C3-B065-4F00-B655-D9599D9AD93F}">
      <dgm:prSet/>
      <dgm:spPr/>
      <dgm:t>
        <a:bodyPr/>
        <a:lstStyle/>
        <a:p>
          <a:endParaRPr lang="en-US"/>
        </a:p>
      </dgm:t>
    </dgm:pt>
    <dgm:pt modelId="{A0DED628-F2BC-4B02-BA81-68F4BFA0AC54}" type="sibTrans" cxnId="{56F059C3-B065-4F00-B655-D9599D9AD93F}">
      <dgm:prSet/>
      <dgm:spPr/>
      <dgm:t>
        <a:bodyPr/>
        <a:lstStyle/>
        <a:p>
          <a:endParaRPr lang="en-US"/>
        </a:p>
      </dgm:t>
    </dgm:pt>
    <dgm:pt modelId="{EEE6837F-7336-4524-B839-22EEA10FC00A}" type="pres">
      <dgm:prSet presAssocID="{D930568D-95CA-46AF-A10A-AD4FDE10136A}" presName="root" presStyleCnt="0">
        <dgm:presLayoutVars>
          <dgm:dir/>
          <dgm:resizeHandles val="exact"/>
        </dgm:presLayoutVars>
      </dgm:prSet>
      <dgm:spPr/>
    </dgm:pt>
    <dgm:pt modelId="{7BFAEB17-2744-4295-9E55-226D8151098A}" type="pres">
      <dgm:prSet presAssocID="{D930568D-95CA-46AF-A10A-AD4FDE10136A}" presName="container" presStyleCnt="0">
        <dgm:presLayoutVars>
          <dgm:dir/>
          <dgm:resizeHandles val="exact"/>
        </dgm:presLayoutVars>
      </dgm:prSet>
      <dgm:spPr/>
    </dgm:pt>
    <dgm:pt modelId="{6A95CB15-6D8E-4EC5-91F5-5B9E023885ED}" type="pres">
      <dgm:prSet presAssocID="{69CD2783-2A05-4E97-9CC3-A105ECBBD5F5}" presName="compNode" presStyleCnt="0"/>
      <dgm:spPr/>
    </dgm:pt>
    <dgm:pt modelId="{5C070772-975F-4D1C-AC60-56F93D4868D8}" type="pres">
      <dgm:prSet presAssocID="{69CD2783-2A05-4E97-9CC3-A105ECBBD5F5}" presName="iconBgRect" presStyleLbl="bgShp" presStyleIdx="0" presStyleCnt="6"/>
      <dgm:spPr/>
    </dgm:pt>
    <dgm:pt modelId="{318A87CD-F5C6-4E48-A515-7F9244704A31}" type="pres">
      <dgm:prSet presAssocID="{69CD2783-2A05-4E97-9CC3-A105ECBBD5F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1E985FB6-79D2-4EB2-B97E-ACC3114768A7}" type="pres">
      <dgm:prSet presAssocID="{69CD2783-2A05-4E97-9CC3-A105ECBBD5F5}" presName="spaceRect" presStyleCnt="0"/>
      <dgm:spPr/>
    </dgm:pt>
    <dgm:pt modelId="{AECED221-30B2-4E3C-904B-EBA3C3EA7795}" type="pres">
      <dgm:prSet presAssocID="{69CD2783-2A05-4E97-9CC3-A105ECBBD5F5}" presName="textRect" presStyleLbl="revTx" presStyleIdx="0" presStyleCnt="6">
        <dgm:presLayoutVars>
          <dgm:chMax val="1"/>
          <dgm:chPref val="1"/>
        </dgm:presLayoutVars>
      </dgm:prSet>
      <dgm:spPr/>
    </dgm:pt>
    <dgm:pt modelId="{0BD4F4F8-3502-48C6-BAC3-8D7388B3A4E5}" type="pres">
      <dgm:prSet presAssocID="{60A6DEFA-B91B-4C22-B38C-46F509BF6B97}" presName="sibTrans" presStyleLbl="sibTrans2D1" presStyleIdx="0" presStyleCnt="0"/>
      <dgm:spPr/>
    </dgm:pt>
    <dgm:pt modelId="{D40C56C0-D7A9-4D4D-B86F-8FDF1978E353}" type="pres">
      <dgm:prSet presAssocID="{4ADF51C2-B802-415C-94F8-3B628C89D15C}" presName="compNode" presStyleCnt="0"/>
      <dgm:spPr/>
    </dgm:pt>
    <dgm:pt modelId="{B97B1171-E45F-4A89-8521-79A106FD4AA2}" type="pres">
      <dgm:prSet presAssocID="{4ADF51C2-B802-415C-94F8-3B628C89D15C}" presName="iconBgRect" presStyleLbl="bgShp" presStyleIdx="1" presStyleCnt="6"/>
      <dgm:spPr/>
    </dgm:pt>
    <dgm:pt modelId="{7E661D5C-2BA9-46D8-A24D-00E45B756E90}" type="pres">
      <dgm:prSet presAssocID="{4ADF51C2-B802-415C-94F8-3B628C89D15C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590E4F90-0FE0-44C9-A4E3-AD7E1CDE115E}" type="pres">
      <dgm:prSet presAssocID="{4ADF51C2-B802-415C-94F8-3B628C89D15C}" presName="spaceRect" presStyleCnt="0"/>
      <dgm:spPr/>
    </dgm:pt>
    <dgm:pt modelId="{5141F6F3-D078-4C4C-A614-14F4E9D47E1E}" type="pres">
      <dgm:prSet presAssocID="{4ADF51C2-B802-415C-94F8-3B628C89D15C}" presName="textRect" presStyleLbl="revTx" presStyleIdx="1" presStyleCnt="6">
        <dgm:presLayoutVars>
          <dgm:chMax val="1"/>
          <dgm:chPref val="1"/>
        </dgm:presLayoutVars>
      </dgm:prSet>
      <dgm:spPr/>
    </dgm:pt>
    <dgm:pt modelId="{640F6033-A13C-4109-9516-2F4F6DB18B58}" type="pres">
      <dgm:prSet presAssocID="{AFAA0CFC-C703-4234-8656-21BDEA086F09}" presName="sibTrans" presStyleLbl="sibTrans2D1" presStyleIdx="0" presStyleCnt="0"/>
      <dgm:spPr/>
    </dgm:pt>
    <dgm:pt modelId="{F175A59C-44A8-411F-87D2-221FCF200F25}" type="pres">
      <dgm:prSet presAssocID="{E3ADFF2A-B733-472B-B9F3-439CBBFD04FB}" presName="compNode" presStyleCnt="0"/>
      <dgm:spPr/>
    </dgm:pt>
    <dgm:pt modelId="{1E47B8DC-0B46-491A-B3D9-79C1A8CD1E1A}" type="pres">
      <dgm:prSet presAssocID="{E3ADFF2A-B733-472B-B9F3-439CBBFD04FB}" presName="iconBgRect" presStyleLbl="bgShp" presStyleIdx="2" presStyleCnt="6"/>
      <dgm:spPr/>
    </dgm:pt>
    <dgm:pt modelId="{2BEB2324-6E2A-4CD1-AD17-1ADFE76B9B01}" type="pres">
      <dgm:prSet presAssocID="{E3ADFF2A-B733-472B-B9F3-439CBBFD04F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AB82BA5-6919-468D-8730-43BAE15A358A}" type="pres">
      <dgm:prSet presAssocID="{E3ADFF2A-B733-472B-B9F3-439CBBFD04FB}" presName="spaceRect" presStyleCnt="0"/>
      <dgm:spPr/>
    </dgm:pt>
    <dgm:pt modelId="{0D5FB0B0-F1D6-4B82-BD63-3CB77811FD47}" type="pres">
      <dgm:prSet presAssocID="{E3ADFF2A-B733-472B-B9F3-439CBBFD04FB}" presName="textRect" presStyleLbl="revTx" presStyleIdx="2" presStyleCnt="6">
        <dgm:presLayoutVars>
          <dgm:chMax val="1"/>
          <dgm:chPref val="1"/>
        </dgm:presLayoutVars>
      </dgm:prSet>
      <dgm:spPr/>
    </dgm:pt>
    <dgm:pt modelId="{E9248CF6-ADD8-4645-A08C-76C5B931296C}" type="pres">
      <dgm:prSet presAssocID="{702EE2BF-BF92-4180-A059-CF046E92B51B}" presName="sibTrans" presStyleLbl="sibTrans2D1" presStyleIdx="0" presStyleCnt="0"/>
      <dgm:spPr/>
    </dgm:pt>
    <dgm:pt modelId="{5EBA1FE4-7207-4D9D-A6C4-1D3FF65652ED}" type="pres">
      <dgm:prSet presAssocID="{EBB3AC76-CBDF-455D-BC98-D01F4C427E14}" presName="compNode" presStyleCnt="0"/>
      <dgm:spPr/>
    </dgm:pt>
    <dgm:pt modelId="{3D059505-841A-4BDD-B036-96A4B8873D1B}" type="pres">
      <dgm:prSet presAssocID="{EBB3AC76-CBDF-455D-BC98-D01F4C427E14}" presName="iconBgRect" presStyleLbl="bgShp" presStyleIdx="3" presStyleCnt="6"/>
      <dgm:spPr/>
    </dgm:pt>
    <dgm:pt modelId="{BAA2A435-715D-4807-BA81-45C6B6470170}" type="pres">
      <dgm:prSet presAssocID="{EBB3AC76-CBDF-455D-BC98-D01F4C427E1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w"/>
        </a:ext>
      </dgm:extLst>
    </dgm:pt>
    <dgm:pt modelId="{923011FC-2381-4C98-A89C-1D4083AFDB15}" type="pres">
      <dgm:prSet presAssocID="{EBB3AC76-CBDF-455D-BC98-D01F4C427E14}" presName="spaceRect" presStyleCnt="0"/>
      <dgm:spPr/>
    </dgm:pt>
    <dgm:pt modelId="{D1A368FD-FF77-4F44-A083-9C4F4693AA09}" type="pres">
      <dgm:prSet presAssocID="{EBB3AC76-CBDF-455D-BC98-D01F4C427E14}" presName="textRect" presStyleLbl="revTx" presStyleIdx="3" presStyleCnt="6">
        <dgm:presLayoutVars>
          <dgm:chMax val="1"/>
          <dgm:chPref val="1"/>
        </dgm:presLayoutVars>
      </dgm:prSet>
      <dgm:spPr/>
    </dgm:pt>
    <dgm:pt modelId="{94E4A486-CD42-4042-8531-180FCC605A36}" type="pres">
      <dgm:prSet presAssocID="{B5FD11D8-5F0F-43D6-BF65-93D42FE6C95B}" presName="sibTrans" presStyleLbl="sibTrans2D1" presStyleIdx="0" presStyleCnt="0"/>
      <dgm:spPr/>
    </dgm:pt>
    <dgm:pt modelId="{84A44D4B-368D-4866-B6E8-BAD4356ECE63}" type="pres">
      <dgm:prSet presAssocID="{10BB5766-E8C4-43CE-A001-D2F1DB0FED14}" presName="compNode" presStyleCnt="0"/>
      <dgm:spPr/>
    </dgm:pt>
    <dgm:pt modelId="{FBDC538F-BA45-4CAD-8CA9-3DF46509AC92}" type="pres">
      <dgm:prSet presAssocID="{10BB5766-E8C4-43CE-A001-D2F1DB0FED14}" presName="iconBgRect" presStyleLbl="bgShp" presStyleIdx="4" presStyleCnt="6"/>
      <dgm:spPr/>
    </dgm:pt>
    <dgm:pt modelId="{AA2F08DC-1F9F-4216-8CE4-4E6FC4B36408}" type="pres">
      <dgm:prSet presAssocID="{10BB5766-E8C4-43CE-A001-D2F1DB0FED1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7B011B8-B2CF-4656-AA12-843C403C6C9C}" type="pres">
      <dgm:prSet presAssocID="{10BB5766-E8C4-43CE-A001-D2F1DB0FED14}" presName="spaceRect" presStyleCnt="0"/>
      <dgm:spPr/>
    </dgm:pt>
    <dgm:pt modelId="{7B5E1DB9-0198-41C3-B946-5CBB41EF97FB}" type="pres">
      <dgm:prSet presAssocID="{10BB5766-E8C4-43CE-A001-D2F1DB0FED14}" presName="textRect" presStyleLbl="revTx" presStyleIdx="4" presStyleCnt="6">
        <dgm:presLayoutVars>
          <dgm:chMax val="1"/>
          <dgm:chPref val="1"/>
        </dgm:presLayoutVars>
      </dgm:prSet>
      <dgm:spPr/>
    </dgm:pt>
    <dgm:pt modelId="{0DA1C0E0-122E-4DE1-8872-F1710A130A8C}" type="pres">
      <dgm:prSet presAssocID="{1B8DB99B-2158-47F7-B0B7-756A5F2D3412}" presName="sibTrans" presStyleLbl="sibTrans2D1" presStyleIdx="0" presStyleCnt="0"/>
      <dgm:spPr/>
    </dgm:pt>
    <dgm:pt modelId="{7A9641F1-379F-4C55-AC86-7A5DE9F5ABE1}" type="pres">
      <dgm:prSet presAssocID="{7E765C1C-2BBC-4C3D-8E0C-68D164F33392}" presName="compNode" presStyleCnt="0"/>
      <dgm:spPr/>
    </dgm:pt>
    <dgm:pt modelId="{625A5BD1-7BCE-4301-B308-1AAB7480D841}" type="pres">
      <dgm:prSet presAssocID="{7E765C1C-2BBC-4C3D-8E0C-68D164F33392}" presName="iconBgRect" presStyleLbl="bgShp" presStyleIdx="5" presStyleCnt="6"/>
      <dgm:spPr/>
    </dgm:pt>
    <dgm:pt modelId="{CA234BE0-B2EA-4EBC-BABD-506A3E6669EB}" type="pres">
      <dgm:prSet presAssocID="{7E765C1C-2BBC-4C3D-8E0C-68D164F3339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7C57162-C05E-40F6-9BBE-B443E5583ECF}" type="pres">
      <dgm:prSet presAssocID="{7E765C1C-2BBC-4C3D-8E0C-68D164F33392}" presName="spaceRect" presStyleCnt="0"/>
      <dgm:spPr/>
    </dgm:pt>
    <dgm:pt modelId="{AC84AE64-D29B-4ED8-8C48-9D15B4344133}" type="pres">
      <dgm:prSet presAssocID="{7E765C1C-2BBC-4C3D-8E0C-68D164F3339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27A2A04-F2DD-499C-B430-32DBFEEC28DA}" type="presOf" srcId="{E3ADFF2A-B733-472B-B9F3-439CBBFD04FB}" destId="{0D5FB0B0-F1D6-4B82-BD63-3CB77811FD47}" srcOrd="0" destOrd="0" presId="urn:microsoft.com/office/officeart/2018/2/layout/IconCircleList"/>
    <dgm:cxn modelId="{6BB49D23-0D11-4055-AD3A-2A11DA49D242}" type="presOf" srcId="{D930568D-95CA-46AF-A10A-AD4FDE10136A}" destId="{EEE6837F-7336-4524-B839-22EEA10FC00A}" srcOrd="0" destOrd="0" presId="urn:microsoft.com/office/officeart/2018/2/layout/IconCircleList"/>
    <dgm:cxn modelId="{295E8364-7D21-4C51-92CA-199359A2DBC0}" type="presOf" srcId="{4ADF51C2-B802-415C-94F8-3B628C89D15C}" destId="{5141F6F3-D078-4C4C-A614-14F4E9D47E1E}" srcOrd="0" destOrd="0" presId="urn:microsoft.com/office/officeart/2018/2/layout/IconCircleList"/>
    <dgm:cxn modelId="{1097AB49-A914-4BC9-B7CA-5C87460D409C}" type="presOf" srcId="{60A6DEFA-B91B-4C22-B38C-46F509BF6B97}" destId="{0BD4F4F8-3502-48C6-BAC3-8D7388B3A4E5}" srcOrd="0" destOrd="0" presId="urn:microsoft.com/office/officeart/2018/2/layout/IconCircleList"/>
    <dgm:cxn modelId="{01DDB669-93D0-4014-B3EC-64C1E1C09976}" type="presOf" srcId="{7E765C1C-2BBC-4C3D-8E0C-68D164F33392}" destId="{AC84AE64-D29B-4ED8-8C48-9D15B4344133}" srcOrd="0" destOrd="0" presId="urn:microsoft.com/office/officeart/2018/2/layout/IconCircleList"/>
    <dgm:cxn modelId="{9F70FC57-C64A-4770-A1A7-E4F7B6AB6EF7}" srcId="{D930568D-95CA-46AF-A10A-AD4FDE10136A}" destId="{10BB5766-E8C4-43CE-A001-D2F1DB0FED14}" srcOrd="4" destOrd="0" parTransId="{12FC0771-0391-4401-B84F-69215A4945B9}" sibTransId="{1B8DB99B-2158-47F7-B0B7-756A5F2D3412}"/>
    <dgm:cxn modelId="{D9C29058-5D3F-4992-9150-4CD14FC361E0}" type="presOf" srcId="{1B8DB99B-2158-47F7-B0B7-756A5F2D3412}" destId="{0DA1C0E0-122E-4DE1-8872-F1710A130A8C}" srcOrd="0" destOrd="0" presId="urn:microsoft.com/office/officeart/2018/2/layout/IconCircleList"/>
    <dgm:cxn modelId="{C7444C80-0A75-427C-8A2F-75DF770B3C67}" type="presOf" srcId="{EBB3AC76-CBDF-455D-BC98-D01F4C427E14}" destId="{D1A368FD-FF77-4F44-A083-9C4F4693AA09}" srcOrd="0" destOrd="0" presId="urn:microsoft.com/office/officeart/2018/2/layout/IconCircleList"/>
    <dgm:cxn modelId="{838AA485-1FCF-45C5-BFE0-D9D1D368A400}" srcId="{D930568D-95CA-46AF-A10A-AD4FDE10136A}" destId="{EBB3AC76-CBDF-455D-BC98-D01F4C427E14}" srcOrd="3" destOrd="0" parTransId="{3A93DF0F-2371-4F04-8331-2816C14A1268}" sibTransId="{B5FD11D8-5F0F-43D6-BF65-93D42FE6C95B}"/>
    <dgm:cxn modelId="{4803E9A7-6E4A-407C-8B05-81CC7BEF90A1}" srcId="{D930568D-95CA-46AF-A10A-AD4FDE10136A}" destId="{69CD2783-2A05-4E97-9CC3-A105ECBBD5F5}" srcOrd="0" destOrd="0" parTransId="{7D175339-D5AD-459B-9EA6-BF61AA8017DC}" sibTransId="{60A6DEFA-B91B-4C22-B38C-46F509BF6B97}"/>
    <dgm:cxn modelId="{5A1108B1-06F0-4FBA-8D04-D00D38642BD9}" type="presOf" srcId="{AFAA0CFC-C703-4234-8656-21BDEA086F09}" destId="{640F6033-A13C-4109-9516-2F4F6DB18B58}" srcOrd="0" destOrd="0" presId="urn:microsoft.com/office/officeart/2018/2/layout/IconCircleList"/>
    <dgm:cxn modelId="{56F059C3-B065-4F00-B655-D9599D9AD93F}" srcId="{D930568D-95CA-46AF-A10A-AD4FDE10136A}" destId="{7E765C1C-2BBC-4C3D-8E0C-68D164F33392}" srcOrd="5" destOrd="0" parTransId="{7C4431E6-F860-41F5-A95B-7CA1885E197A}" sibTransId="{A0DED628-F2BC-4B02-BA81-68F4BFA0AC54}"/>
    <dgm:cxn modelId="{B10029CF-588E-4AC2-9B6A-F3278EA7A5F9}" srcId="{D930568D-95CA-46AF-A10A-AD4FDE10136A}" destId="{4ADF51C2-B802-415C-94F8-3B628C89D15C}" srcOrd="1" destOrd="0" parTransId="{9B2FFE67-9E3D-40FB-A157-1940B8A4CF90}" sibTransId="{AFAA0CFC-C703-4234-8656-21BDEA086F09}"/>
    <dgm:cxn modelId="{474F3BE3-5331-468E-94E8-3ED89FECF96C}" srcId="{D930568D-95CA-46AF-A10A-AD4FDE10136A}" destId="{E3ADFF2A-B733-472B-B9F3-439CBBFD04FB}" srcOrd="2" destOrd="0" parTransId="{11F1BDD2-0D1F-4141-AD98-1ED95C994051}" sibTransId="{702EE2BF-BF92-4180-A059-CF046E92B51B}"/>
    <dgm:cxn modelId="{AD46B7E5-E99D-4136-BEAF-945D1586D456}" type="presOf" srcId="{702EE2BF-BF92-4180-A059-CF046E92B51B}" destId="{E9248CF6-ADD8-4645-A08C-76C5B931296C}" srcOrd="0" destOrd="0" presId="urn:microsoft.com/office/officeart/2018/2/layout/IconCircleList"/>
    <dgm:cxn modelId="{C344B9E5-3E80-4EDF-BDEC-8987B07D6A09}" type="presOf" srcId="{B5FD11D8-5F0F-43D6-BF65-93D42FE6C95B}" destId="{94E4A486-CD42-4042-8531-180FCC605A36}" srcOrd="0" destOrd="0" presId="urn:microsoft.com/office/officeart/2018/2/layout/IconCircleList"/>
    <dgm:cxn modelId="{81C117EB-53FB-4E93-B1F6-A39C262E692A}" type="presOf" srcId="{10BB5766-E8C4-43CE-A001-D2F1DB0FED14}" destId="{7B5E1DB9-0198-41C3-B946-5CBB41EF97FB}" srcOrd="0" destOrd="0" presId="urn:microsoft.com/office/officeart/2018/2/layout/IconCircleList"/>
    <dgm:cxn modelId="{DAF4B9F0-6FD5-42DC-AD93-F6522E578508}" type="presOf" srcId="{69CD2783-2A05-4E97-9CC3-A105ECBBD5F5}" destId="{AECED221-30B2-4E3C-904B-EBA3C3EA7795}" srcOrd="0" destOrd="0" presId="urn:microsoft.com/office/officeart/2018/2/layout/IconCircleList"/>
    <dgm:cxn modelId="{F3D471E3-A3E6-4554-8806-54FB8E7F061B}" type="presParOf" srcId="{EEE6837F-7336-4524-B839-22EEA10FC00A}" destId="{7BFAEB17-2744-4295-9E55-226D8151098A}" srcOrd="0" destOrd="0" presId="urn:microsoft.com/office/officeart/2018/2/layout/IconCircleList"/>
    <dgm:cxn modelId="{71F420FA-D020-4020-84BC-BECE1F2A0458}" type="presParOf" srcId="{7BFAEB17-2744-4295-9E55-226D8151098A}" destId="{6A95CB15-6D8E-4EC5-91F5-5B9E023885ED}" srcOrd="0" destOrd="0" presId="urn:microsoft.com/office/officeart/2018/2/layout/IconCircleList"/>
    <dgm:cxn modelId="{CDBFF5A2-9F1E-428E-8B7C-8BFE72F082CC}" type="presParOf" srcId="{6A95CB15-6D8E-4EC5-91F5-5B9E023885ED}" destId="{5C070772-975F-4D1C-AC60-56F93D4868D8}" srcOrd="0" destOrd="0" presId="urn:microsoft.com/office/officeart/2018/2/layout/IconCircleList"/>
    <dgm:cxn modelId="{24351CCD-89D4-459E-A3F6-627790693582}" type="presParOf" srcId="{6A95CB15-6D8E-4EC5-91F5-5B9E023885ED}" destId="{318A87CD-F5C6-4E48-A515-7F9244704A31}" srcOrd="1" destOrd="0" presId="urn:microsoft.com/office/officeart/2018/2/layout/IconCircleList"/>
    <dgm:cxn modelId="{0B9ACCDE-8001-4B4C-8A79-2CDDA57759B1}" type="presParOf" srcId="{6A95CB15-6D8E-4EC5-91F5-5B9E023885ED}" destId="{1E985FB6-79D2-4EB2-B97E-ACC3114768A7}" srcOrd="2" destOrd="0" presId="urn:microsoft.com/office/officeart/2018/2/layout/IconCircleList"/>
    <dgm:cxn modelId="{F6FCB76A-B6A7-4D57-A681-C441CFC00181}" type="presParOf" srcId="{6A95CB15-6D8E-4EC5-91F5-5B9E023885ED}" destId="{AECED221-30B2-4E3C-904B-EBA3C3EA7795}" srcOrd="3" destOrd="0" presId="urn:microsoft.com/office/officeart/2018/2/layout/IconCircleList"/>
    <dgm:cxn modelId="{9349E925-C386-4DB1-8E6C-5ACDE66C3887}" type="presParOf" srcId="{7BFAEB17-2744-4295-9E55-226D8151098A}" destId="{0BD4F4F8-3502-48C6-BAC3-8D7388B3A4E5}" srcOrd="1" destOrd="0" presId="urn:microsoft.com/office/officeart/2018/2/layout/IconCircleList"/>
    <dgm:cxn modelId="{70D8AB53-9062-4A6F-9484-47E8532F173B}" type="presParOf" srcId="{7BFAEB17-2744-4295-9E55-226D8151098A}" destId="{D40C56C0-D7A9-4D4D-B86F-8FDF1978E353}" srcOrd="2" destOrd="0" presId="urn:microsoft.com/office/officeart/2018/2/layout/IconCircleList"/>
    <dgm:cxn modelId="{0C1D7958-FEBB-4A84-98C8-BC9284D8244E}" type="presParOf" srcId="{D40C56C0-D7A9-4D4D-B86F-8FDF1978E353}" destId="{B97B1171-E45F-4A89-8521-79A106FD4AA2}" srcOrd="0" destOrd="0" presId="urn:microsoft.com/office/officeart/2018/2/layout/IconCircleList"/>
    <dgm:cxn modelId="{F04459DD-1927-40FF-BCF0-4A80FADE50D3}" type="presParOf" srcId="{D40C56C0-D7A9-4D4D-B86F-8FDF1978E353}" destId="{7E661D5C-2BA9-46D8-A24D-00E45B756E90}" srcOrd="1" destOrd="0" presId="urn:microsoft.com/office/officeart/2018/2/layout/IconCircleList"/>
    <dgm:cxn modelId="{E39A797A-3C43-4CF4-BFEC-F0F26FAE1770}" type="presParOf" srcId="{D40C56C0-D7A9-4D4D-B86F-8FDF1978E353}" destId="{590E4F90-0FE0-44C9-A4E3-AD7E1CDE115E}" srcOrd="2" destOrd="0" presId="urn:microsoft.com/office/officeart/2018/2/layout/IconCircleList"/>
    <dgm:cxn modelId="{4A59A3D4-A6AC-40A1-9AD1-57C762AD7BCF}" type="presParOf" srcId="{D40C56C0-D7A9-4D4D-B86F-8FDF1978E353}" destId="{5141F6F3-D078-4C4C-A614-14F4E9D47E1E}" srcOrd="3" destOrd="0" presId="urn:microsoft.com/office/officeart/2018/2/layout/IconCircleList"/>
    <dgm:cxn modelId="{2247FA71-74E8-45AE-ADDA-CC361F84615B}" type="presParOf" srcId="{7BFAEB17-2744-4295-9E55-226D8151098A}" destId="{640F6033-A13C-4109-9516-2F4F6DB18B58}" srcOrd="3" destOrd="0" presId="urn:microsoft.com/office/officeart/2018/2/layout/IconCircleList"/>
    <dgm:cxn modelId="{E28283D7-85E5-4882-A82E-3A1194D2A040}" type="presParOf" srcId="{7BFAEB17-2744-4295-9E55-226D8151098A}" destId="{F175A59C-44A8-411F-87D2-221FCF200F25}" srcOrd="4" destOrd="0" presId="urn:microsoft.com/office/officeart/2018/2/layout/IconCircleList"/>
    <dgm:cxn modelId="{EFADB992-94EF-4A2E-A564-27F5752E1E58}" type="presParOf" srcId="{F175A59C-44A8-411F-87D2-221FCF200F25}" destId="{1E47B8DC-0B46-491A-B3D9-79C1A8CD1E1A}" srcOrd="0" destOrd="0" presId="urn:microsoft.com/office/officeart/2018/2/layout/IconCircleList"/>
    <dgm:cxn modelId="{0A42A66B-4AC1-4297-B14A-9FA32C97D67F}" type="presParOf" srcId="{F175A59C-44A8-411F-87D2-221FCF200F25}" destId="{2BEB2324-6E2A-4CD1-AD17-1ADFE76B9B01}" srcOrd="1" destOrd="0" presId="urn:microsoft.com/office/officeart/2018/2/layout/IconCircleList"/>
    <dgm:cxn modelId="{8454CFA7-C60F-44B8-86D7-F554FF1749D5}" type="presParOf" srcId="{F175A59C-44A8-411F-87D2-221FCF200F25}" destId="{5AB82BA5-6919-468D-8730-43BAE15A358A}" srcOrd="2" destOrd="0" presId="urn:microsoft.com/office/officeart/2018/2/layout/IconCircleList"/>
    <dgm:cxn modelId="{6CB21093-4EC2-472B-AB6A-4014477CD13D}" type="presParOf" srcId="{F175A59C-44A8-411F-87D2-221FCF200F25}" destId="{0D5FB0B0-F1D6-4B82-BD63-3CB77811FD47}" srcOrd="3" destOrd="0" presId="urn:microsoft.com/office/officeart/2018/2/layout/IconCircleList"/>
    <dgm:cxn modelId="{B0D0FB63-FFB9-4CEE-ABD9-EA4EE159EBDB}" type="presParOf" srcId="{7BFAEB17-2744-4295-9E55-226D8151098A}" destId="{E9248CF6-ADD8-4645-A08C-76C5B931296C}" srcOrd="5" destOrd="0" presId="urn:microsoft.com/office/officeart/2018/2/layout/IconCircleList"/>
    <dgm:cxn modelId="{374A8E01-CFA0-43F4-AE9A-8B87EDE63C88}" type="presParOf" srcId="{7BFAEB17-2744-4295-9E55-226D8151098A}" destId="{5EBA1FE4-7207-4D9D-A6C4-1D3FF65652ED}" srcOrd="6" destOrd="0" presId="urn:microsoft.com/office/officeart/2018/2/layout/IconCircleList"/>
    <dgm:cxn modelId="{8D374387-4192-4EA9-BE82-233D1BB9D8C3}" type="presParOf" srcId="{5EBA1FE4-7207-4D9D-A6C4-1D3FF65652ED}" destId="{3D059505-841A-4BDD-B036-96A4B8873D1B}" srcOrd="0" destOrd="0" presId="urn:microsoft.com/office/officeart/2018/2/layout/IconCircleList"/>
    <dgm:cxn modelId="{63D68487-BB05-4549-8766-A89014574624}" type="presParOf" srcId="{5EBA1FE4-7207-4D9D-A6C4-1D3FF65652ED}" destId="{BAA2A435-715D-4807-BA81-45C6B6470170}" srcOrd="1" destOrd="0" presId="urn:microsoft.com/office/officeart/2018/2/layout/IconCircleList"/>
    <dgm:cxn modelId="{7ED878C0-4D4C-4680-BD68-689BEFD47DC0}" type="presParOf" srcId="{5EBA1FE4-7207-4D9D-A6C4-1D3FF65652ED}" destId="{923011FC-2381-4C98-A89C-1D4083AFDB15}" srcOrd="2" destOrd="0" presId="urn:microsoft.com/office/officeart/2018/2/layout/IconCircleList"/>
    <dgm:cxn modelId="{49321E81-5995-4B46-BC8A-DBCE34BF770F}" type="presParOf" srcId="{5EBA1FE4-7207-4D9D-A6C4-1D3FF65652ED}" destId="{D1A368FD-FF77-4F44-A083-9C4F4693AA09}" srcOrd="3" destOrd="0" presId="urn:microsoft.com/office/officeart/2018/2/layout/IconCircleList"/>
    <dgm:cxn modelId="{B1A3B75B-258E-414A-8CAC-839E8FBB97E0}" type="presParOf" srcId="{7BFAEB17-2744-4295-9E55-226D8151098A}" destId="{94E4A486-CD42-4042-8531-180FCC605A36}" srcOrd="7" destOrd="0" presId="urn:microsoft.com/office/officeart/2018/2/layout/IconCircleList"/>
    <dgm:cxn modelId="{55F3977A-A9A4-4776-B2E5-90CC0FC8D82E}" type="presParOf" srcId="{7BFAEB17-2744-4295-9E55-226D8151098A}" destId="{84A44D4B-368D-4866-B6E8-BAD4356ECE63}" srcOrd="8" destOrd="0" presId="urn:microsoft.com/office/officeart/2018/2/layout/IconCircleList"/>
    <dgm:cxn modelId="{9BED379F-A791-4934-8C72-E4A35967981A}" type="presParOf" srcId="{84A44D4B-368D-4866-B6E8-BAD4356ECE63}" destId="{FBDC538F-BA45-4CAD-8CA9-3DF46509AC92}" srcOrd="0" destOrd="0" presId="urn:microsoft.com/office/officeart/2018/2/layout/IconCircleList"/>
    <dgm:cxn modelId="{DB53BF6F-62F5-4720-9522-0105A59633AE}" type="presParOf" srcId="{84A44D4B-368D-4866-B6E8-BAD4356ECE63}" destId="{AA2F08DC-1F9F-4216-8CE4-4E6FC4B36408}" srcOrd="1" destOrd="0" presId="urn:microsoft.com/office/officeart/2018/2/layout/IconCircleList"/>
    <dgm:cxn modelId="{FDDC536A-DFC9-45A4-9D7F-0600D1600E12}" type="presParOf" srcId="{84A44D4B-368D-4866-B6E8-BAD4356ECE63}" destId="{27B011B8-B2CF-4656-AA12-843C403C6C9C}" srcOrd="2" destOrd="0" presId="urn:microsoft.com/office/officeart/2018/2/layout/IconCircleList"/>
    <dgm:cxn modelId="{934EAE9E-D86E-4252-AA45-E2F7112D13B2}" type="presParOf" srcId="{84A44D4B-368D-4866-B6E8-BAD4356ECE63}" destId="{7B5E1DB9-0198-41C3-B946-5CBB41EF97FB}" srcOrd="3" destOrd="0" presId="urn:microsoft.com/office/officeart/2018/2/layout/IconCircleList"/>
    <dgm:cxn modelId="{24017EAD-CCC7-4EF5-8FD9-23AB15AC0E84}" type="presParOf" srcId="{7BFAEB17-2744-4295-9E55-226D8151098A}" destId="{0DA1C0E0-122E-4DE1-8872-F1710A130A8C}" srcOrd="9" destOrd="0" presId="urn:microsoft.com/office/officeart/2018/2/layout/IconCircleList"/>
    <dgm:cxn modelId="{56797DC2-8C12-418D-88C3-9F5255B6B927}" type="presParOf" srcId="{7BFAEB17-2744-4295-9E55-226D8151098A}" destId="{7A9641F1-379F-4C55-AC86-7A5DE9F5ABE1}" srcOrd="10" destOrd="0" presId="urn:microsoft.com/office/officeart/2018/2/layout/IconCircleList"/>
    <dgm:cxn modelId="{DB31FEE7-DE35-4CAA-9C4B-9AC59272A768}" type="presParOf" srcId="{7A9641F1-379F-4C55-AC86-7A5DE9F5ABE1}" destId="{625A5BD1-7BCE-4301-B308-1AAB7480D841}" srcOrd="0" destOrd="0" presId="urn:microsoft.com/office/officeart/2018/2/layout/IconCircleList"/>
    <dgm:cxn modelId="{62ABB37C-3715-4960-8B09-852CBECCE122}" type="presParOf" srcId="{7A9641F1-379F-4C55-AC86-7A5DE9F5ABE1}" destId="{CA234BE0-B2EA-4EBC-BABD-506A3E6669EB}" srcOrd="1" destOrd="0" presId="urn:microsoft.com/office/officeart/2018/2/layout/IconCircleList"/>
    <dgm:cxn modelId="{6421D15F-CB90-4D6A-B671-AE769B40E9D3}" type="presParOf" srcId="{7A9641F1-379F-4C55-AC86-7A5DE9F5ABE1}" destId="{C7C57162-C05E-40F6-9BBE-B443E5583ECF}" srcOrd="2" destOrd="0" presId="urn:microsoft.com/office/officeart/2018/2/layout/IconCircleList"/>
    <dgm:cxn modelId="{21A98DB3-91F9-4856-91D4-FFD544749DF0}" type="presParOf" srcId="{7A9641F1-379F-4C55-AC86-7A5DE9F5ABE1}" destId="{AC84AE64-D29B-4ED8-8C48-9D15B434413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54D33A-47CF-425C-A16A-DE0B1362632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8778A8A-FE7B-4A6C-8BE8-D2DF8A7EE5D3}">
      <dgm:prSet/>
      <dgm:spPr/>
      <dgm:t>
        <a:bodyPr/>
        <a:lstStyle/>
        <a:p>
          <a:r>
            <a:rPr lang="en-IN"/>
            <a:t>Raw datasets → Load &amp; Extract key columns.</a:t>
          </a:r>
          <a:endParaRPr lang="en-US"/>
        </a:p>
      </dgm:t>
    </dgm:pt>
    <dgm:pt modelId="{DF70D4F9-74AF-4098-B7B1-107A982BC568}" type="parTrans" cxnId="{2C103E64-126E-4F05-8BB4-C72E9D259305}">
      <dgm:prSet/>
      <dgm:spPr/>
      <dgm:t>
        <a:bodyPr/>
        <a:lstStyle/>
        <a:p>
          <a:endParaRPr lang="en-US"/>
        </a:p>
      </dgm:t>
    </dgm:pt>
    <dgm:pt modelId="{5EB547AA-621F-4741-956D-AAB4EAEA2ACC}" type="sibTrans" cxnId="{2C103E64-126E-4F05-8BB4-C72E9D259305}">
      <dgm:prSet/>
      <dgm:spPr/>
      <dgm:t>
        <a:bodyPr/>
        <a:lstStyle/>
        <a:p>
          <a:endParaRPr lang="en-US"/>
        </a:p>
      </dgm:t>
    </dgm:pt>
    <dgm:pt modelId="{B405B525-C655-4356-A185-456FCC1231A4}">
      <dgm:prSet/>
      <dgm:spPr/>
      <dgm:t>
        <a:bodyPr/>
        <a:lstStyle/>
        <a:p>
          <a:r>
            <a:rPr lang="en-IN"/>
            <a:t>Preprocess text (cleaning, tokenization).</a:t>
          </a:r>
          <a:endParaRPr lang="en-US"/>
        </a:p>
      </dgm:t>
    </dgm:pt>
    <dgm:pt modelId="{70458335-FC51-408D-A77C-849F6FF9E836}" type="parTrans" cxnId="{773FF608-3D9A-43E0-8FBE-371EE67989A9}">
      <dgm:prSet/>
      <dgm:spPr/>
      <dgm:t>
        <a:bodyPr/>
        <a:lstStyle/>
        <a:p>
          <a:endParaRPr lang="en-US"/>
        </a:p>
      </dgm:t>
    </dgm:pt>
    <dgm:pt modelId="{0D0598B3-4C85-4073-9709-997D34B5DBE9}" type="sibTrans" cxnId="{773FF608-3D9A-43E0-8FBE-371EE67989A9}">
      <dgm:prSet/>
      <dgm:spPr/>
      <dgm:t>
        <a:bodyPr/>
        <a:lstStyle/>
        <a:p>
          <a:endParaRPr lang="en-US"/>
        </a:p>
      </dgm:t>
    </dgm:pt>
    <dgm:pt modelId="{356E64EA-76DA-4633-97B0-6821A034E374}">
      <dgm:prSet/>
      <dgm:spPr/>
      <dgm:t>
        <a:bodyPr/>
        <a:lstStyle/>
        <a:p>
          <a:r>
            <a:rPr lang="en-IN"/>
            <a:t>Feature Creation:</a:t>
          </a:r>
          <a:endParaRPr lang="en-US"/>
        </a:p>
      </dgm:t>
    </dgm:pt>
    <dgm:pt modelId="{6B2C12AD-80A7-4FA5-AFBC-44232C62AB9F}" type="parTrans" cxnId="{EDD4347D-EC67-405F-8B63-8685EFFCC786}">
      <dgm:prSet/>
      <dgm:spPr/>
      <dgm:t>
        <a:bodyPr/>
        <a:lstStyle/>
        <a:p>
          <a:endParaRPr lang="en-US"/>
        </a:p>
      </dgm:t>
    </dgm:pt>
    <dgm:pt modelId="{7EE01087-8CA1-4953-865F-C4EFD4B17390}" type="sibTrans" cxnId="{EDD4347D-EC67-405F-8B63-8685EFFCC786}">
      <dgm:prSet/>
      <dgm:spPr/>
      <dgm:t>
        <a:bodyPr/>
        <a:lstStyle/>
        <a:p>
          <a:endParaRPr lang="en-US"/>
        </a:p>
      </dgm:t>
    </dgm:pt>
    <dgm:pt modelId="{8647AFDD-B704-4D99-8073-9B08B55596E6}">
      <dgm:prSet/>
      <dgm:spPr/>
      <dgm:t>
        <a:bodyPr/>
        <a:lstStyle/>
        <a:p>
          <a:r>
            <a:rPr lang="en-IN"/>
            <a:t>TF-IDF vectors (baseline)</a:t>
          </a:r>
          <a:endParaRPr lang="en-US"/>
        </a:p>
      </dgm:t>
    </dgm:pt>
    <dgm:pt modelId="{22F564D1-D9C0-4AA9-AF07-23E4B0A5C9B5}" type="parTrans" cxnId="{430A139B-953C-44C5-AB3A-9C88AD86C4A0}">
      <dgm:prSet/>
      <dgm:spPr/>
      <dgm:t>
        <a:bodyPr/>
        <a:lstStyle/>
        <a:p>
          <a:endParaRPr lang="en-US"/>
        </a:p>
      </dgm:t>
    </dgm:pt>
    <dgm:pt modelId="{989C5065-1032-43E2-98ED-827E9541688C}" type="sibTrans" cxnId="{430A139B-953C-44C5-AB3A-9C88AD86C4A0}">
      <dgm:prSet/>
      <dgm:spPr/>
      <dgm:t>
        <a:bodyPr/>
        <a:lstStyle/>
        <a:p>
          <a:endParaRPr lang="en-US"/>
        </a:p>
      </dgm:t>
    </dgm:pt>
    <dgm:pt modelId="{8A50DED4-C40D-42CB-A2AD-A5563959F7DF}">
      <dgm:prSet/>
      <dgm:spPr/>
      <dgm:t>
        <a:bodyPr/>
        <a:lstStyle/>
        <a:p>
          <a:r>
            <a:rPr lang="en-IN"/>
            <a:t>Transformer embeddings (BERT)</a:t>
          </a:r>
          <a:endParaRPr lang="en-US"/>
        </a:p>
      </dgm:t>
    </dgm:pt>
    <dgm:pt modelId="{915989C7-1D47-421C-87B0-86472AAB37DE}" type="parTrans" cxnId="{2D7D9327-3C92-432D-9FBC-24EA7FD0805D}">
      <dgm:prSet/>
      <dgm:spPr/>
      <dgm:t>
        <a:bodyPr/>
        <a:lstStyle/>
        <a:p>
          <a:endParaRPr lang="en-US"/>
        </a:p>
      </dgm:t>
    </dgm:pt>
    <dgm:pt modelId="{25515C61-463D-43C0-97A4-BCBBC9F984AE}" type="sibTrans" cxnId="{2D7D9327-3C92-432D-9FBC-24EA7FD0805D}">
      <dgm:prSet/>
      <dgm:spPr/>
      <dgm:t>
        <a:bodyPr/>
        <a:lstStyle/>
        <a:p>
          <a:endParaRPr lang="en-US"/>
        </a:p>
      </dgm:t>
    </dgm:pt>
    <dgm:pt modelId="{E88A33FC-55B6-4D70-B5FE-8313E1163CFB}">
      <dgm:prSet/>
      <dgm:spPr/>
      <dgm:t>
        <a:bodyPr/>
        <a:lstStyle/>
        <a:p>
          <a:r>
            <a:rPr lang="en-IN"/>
            <a:t>Model Training:</a:t>
          </a:r>
          <a:endParaRPr lang="en-US"/>
        </a:p>
      </dgm:t>
    </dgm:pt>
    <dgm:pt modelId="{D9679D86-BE69-4B18-B49E-2DCD1EDF7833}" type="parTrans" cxnId="{73D3E02A-C390-4742-9E1F-6DB0C321BD89}">
      <dgm:prSet/>
      <dgm:spPr/>
      <dgm:t>
        <a:bodyPr/>
        <a:lstStyle/>
        <a:p>
          <a:endParaRPr lang="en-US"/>
        </a:p>
      </dgm:t>
    </dgm:pt>
    <dgm:pt modelId="{F1F91F70-7C6A-4855-9294-27A4E49F653D}" type="sibTrans" cxnId="{73D3E02A-C390-4742-9E1F-6DB0C321BD89}">
      <dgm:prSet/>
      <dgm:spPr/>
      <dgm:t>
        <a:bodyPr/>
        <a:lstStyle/>
        <a:p>
          <a:endParaRPr lang="en-US"/>
        </a:p>
      </dgm:t>
    </dgm:pt>
    <dgm:pt modelId="{4FFBD921-F9A4-4A9B-9FFA-C9A522391126}">
      <dgm:prSet/>
      <dgm:spPr/>
      <dgm:t>
        <a:bodyPr/>
        <a:lstStyle/>
        <a:p>
          <a:r>
            <a:rPr lang="en-IN"/>
            <a:t>Train baseline Ridge Regression.</a:t>
          </a:r>
          <a:endParaRPr lang="en-US"/>
        </a:p>
      </dgm:t>
    </dgm:pt>
    <dgm:pt modelId="{DEA65119-A419-4B53-B415-D3578148E899}" type="parTrans" cxnId="{DF73AD0D-D784-4485-8E6C-CF92558E73EC}">
      <dgm:prSet/>
      <dgm:spPr/>
      <dgm:t>
        <a:bodyPr/>
        <a:lstStyle/>
        <a:p>
          <a:endParaRPr lang="en-US"/>
        </a:p>
      </dgm:t>
    </dgm:pt>
    <dgm:pt modelId="{9515EFB9-84C7-4D42-A914-AC6D057D257C}" type="sibTrans" cxnId="{DF73AD0D-D784-4485-8E6C-CF92558E73EC}">
      <dgm:prSet/>
      <dgm:spPr/>
      <dgm:t>
        <a:bodyPr/>
        <a:lstStyle/>
        <a:p>
          <a:endParaRPr lang="en-US"/>
        </a:p>
      </dgm:t>
    </dgm:pt>
    <dgm:pt modelId="{6DE83850-5056-4C29-8D83-ABE6FE7B78F3}">
      <dgm:prSet/>
      <dgm:spPr/>
      <dgm:t>
        <a:bodyPr/>
        <a:lstStyle/>
        <a:p>
          <a:r>
            <a:rPr lang="en-IN"/>
            <a:t>Fine-tune BERT Cross-Encoder on combined datasets.</a:t>
          </a:r>
          <a:endParaRPr lang="en-US"/>
        </a:p>
      </dgm:t>
    </dgm:pt>
    <dgm:pt modelId="{8F458703-CDDC-4F3B-AA33-ABEBD8F4E8BC}" type="parTrans" cxnId="{5DA20CFA-0C37-451A-8862-866065A076FB}">
      <dgm:prSet/>
      <dgm:spPr/>
      <dgm:t>
        <a:bodyPr/>
        <a:lstStyle/>
        <a:p>
          <a:endParaRPr lang="en-US"/>
        </a:p>
      </dgm:t>
    </dgm:pt>
    <dgm:pt modelId="{31219E88-9F81-440E-A10B-D3C85D8B73A4}" type="sibTrans" cxnId="{5DA20CFA-0C37-451A-8862-866065A076FB}">
      <dgm:prSet/>
      <dgm:spPr/>
      <dgm:t>
        <a:bodyPr/>
        <a:lstStyle/>
        <a:p>
          <a:endParaRPr lang="en-US"/>
        </a:p>
      </dgm:t>
    </dgm:pt>
    <dgm:pt modelId="{E59393D6-863C-4A9C-A1F2-708B886C38B5}">
      <dgm:prSet/>
      <dgm:spPr/>
      <dgm:t>
        <a:bodyPr/>
        <a:lstStyle/>
        <a:p>
          <a:r>
            <a:rPr lang="en-IN"/>
            <a:t>Model Evaluation:</a:t>
          </a:r>
          <a:endParaRPr lang="en-US"/>
        </a:p>
      </dgm:t>
    </dgm:pt>
    <dgm:pt modelId="{21C24F9E-ED99-4932-8DBE-CDAFA585810C}" type="parTrans" cxnId="{D3D36C5A-9393-49CA-B87C-9EC8C51D513D}">
      <dgm:prSet/>
      <dgm:spPr/>
      <dgm:t>
        <a:bodyPr/>
        <a:lstStyle/>
        <a:p>
          <a:endParaRPr lang="en-US"/>
        </a:p>
      </dgm:t>
    </dgm:pt>
    <dgm:pt modelId="{8F1BD6BE-6270-4772-8CDD-9B8068BBA3BF}" type="sibTrans" cxnId="{D3D36C5A-9393-49CA-B87C-9EC8C51D513D}">
      <dgm:prSet/>
      <dgm:spPr/>
      <dgm:t>
        <a:bodyPr/>
        <a:lstStyle/>
        <a:p>
          <a:endParaRPr lang="en-US"/>
        </a:p>
      </dgm:t>
    </dgm:pt>
    <dgm:pt modelId="{9791FE0D-39BE-4AC9-BD52-D7101A8FF9BD}">
      <dgm:prSet/>
      <dgm:spPr/>
      <dgm:t>
        <a:bodyPr/>
        <a:lstStyle/>
        <a:p>
          <a:r>
            <a:rPr lang="en-IN"/>
            <a:t>Compare predicted scores vs. human scores using </a:t>
          </a:r>
          <a:r>
            <a:rPr lang="en-IN" b="1"/>
            <a:t>QWK &amp; MSE</a:t>
          </a:r>
          <a:r>
            <a:rPr lang="en-IN"/>
            <a:t>.</a:t>
          </a:r>
          <a:endParaRPr lang="en-US"/>
        </a:p>
      </dgm:t>
    </dgm:pt>
    <dgm:pt modelId="{61016F4C-BC05-4334-BFC7-0ECD63462C0E}" type="parTrans" cxnId="{E44A1838-E618-44EC-9D4A-F0B47597E4E7}">
      <dgm:prSet/>
      <dgm:spPr/>
      <dgm:t>
        <a:bodyPr/>
        <a:lstStyle/>
        <a:p>
          <a:endParaRPr lang="en-US"/>
        </a:p>
      </dgm:t>
    </dgm:pt>
    <dgm:pt modelId="{3C7B603D-2442-4A8C-9D94-62FB1D37766F}" type="sibTrans" cxnId="{E44A1838-E618-44EC-9D4A-F0B47597E4E7}">
      <dgm:prSet/>
      <dgm:spPr/>
      <dgm:t>
        <a:bodyPr/>
        <a:lstStyle/>
        <a:p>
          <a:endParaRPr lang="en-US"/>
        </a:p>
      </dgm:t>
    </dgm:pt>
    <dgm:pt modelId="{EA758E76-5B3D-4384-B159-2A261434978A}">
      <dgm:prSet/>
      <dgm:spPr/>
      <dgm:t>
        <a:bodyPr/>
        <a:lstStyle/>
        <a:p>
          <a:r>
            <a:rPr lang="en-IN"/>
            <a:t>Output:</a:t>
          </a:r>
          <a:endParaRPr lang="en-US"/>
        </a:p>
      </dgm:t>
    </dgm:pt>
    <dgm:pt modelId="{40417E53-6BDD-45C1-BF3A-2F39E46F63A1}" type="parTrans" cxnId="{77E3BA9C-5390-45A5-BF00-C7E9875A9088}">
      <dgm:prSet/>
      <dgm:spPr/>
      <dgm:t>
        <a:bodyPr/>
        <a:lstStyle/>
        <a:p>
          <a:endParaRPr lang="en-US"/>
        </a:p>
      </dgm:t>
    </dgm:pt>
    <dgm:pt modelId="{4DC6ED05-C388-40CF-A5C2-284B7AC57BE7}" type="sibTrans" cxnId="{77E3BA9C-5390-45A5-BF00-C7E9875A9088}">
      <dgm:prSet/>
      <dgm:spPr/>
      <dgm:t>
        <a:bodyPr/>
        <a:lstStyle/>
        <a:p>
          <a:endParaRPr lang="en-US"/>
        </a:p>
      </dgm:t>
    </dgm:pt>
    <dgm:pt modelId="{54C4A43C-0160-4952-A01E-7E638B19CEE9}">
      <dgm:prSet/>
      <dgm:spPr/>
      <dgm:t>
        <a:bodyPr/>
        <a:lstStyle/>
        <a:p>
          <a:r>
            <a:rPr lang="en-IN"/>
            <a:t>Final predicted grade</a:t>
          </a:r>
          <a:endParaRPr lang="en-US"/>
        </a:p>
      </dgm:t>
    </dgm:pt>
    <dgm:pt modelId="{0E11A67B-5234-4AE5-B582-2B147DA840FB}" type="parTrans" cxnId="{D639AB4B-072D-4599-97AD-D46115403FEB}">
      <dgm:prSet/>
      <dgm:spPr/>
      <dgm:t>
        <a:bodyPr/>
        <a:lstStyle/>
        <a:p>
          <a:endParaRPr lang="en-US"/>
        </a:p>
      </dgm:t>
    </dgm:pt>
    <dgm:pt modelId="{543FCF5B-484E-4A7A-A69E-5095B5AA8986}" type="sibTrans" cxnId="{D639AB4B-072D-4599-97AD-D46115403FEB}">
      <dgm:prSet/>
      <dgm:spPr/>
      <dgm:t>
        <a:bodyPr/>
        <a:lstStyle/>
        <a:p>
          <a:endParaRPr lang="en-US"/>
        </a:p>
      </dgm:t>
    </dgm:pt>
    <dgm:pt modelId="{ACD0F789-8025-4D54-94B8-4552115501B2}">
      <dgm:prSet/>
      <dgm:spPr/>
      <dgm:t>
        <a:bodyPr/>
        <a:lstStyle/>
        <a:p>
          <a:r>
            <a:rPr lang="en-IN"/>
            <a:t>Export results to CSV for teacher usage.</a:t>
          </a:r>
          <a:endParaRPr lang="en-US"/>
        </a:p>
      </dgm:t>
    </dgm:pt>
    <dgm:pt modelId="{32082ACA-A552-487F-899B-99CF36263976}" type="parTrans" cxnId="{B49776DA-581B-480E-9833-A4814A0CB542}">
      <dgm:prSet/>
      <dgm:spPr/>
      <dgm:t>
        <a:bodyPr/>
        <a:lstStyle/>
        <a:p>
          <a:endParaRPr lang="en-US"/>
        </a:p>
      </dgm:t>
    </dgm:pt>
    <dgm:pt modelId="{341F1B1C-CAC0-4A02-9200-DCC56922460B}" type="sibTrans" cxnId="{B49776DA-581B-480E-9833-A4814A0CB542}">
      <dgm:prSet/>
      <dgm:spPr/>
      <dgm:t>
        <a:bodyPr/>
        <a:lstStyle/>
        <a:p>
          <a:endParaRPr lang="en-US"/>
        </a:p>
      </dgm:t>
    </dgm:pt>
    <dgm:pt modelId="{21B20921-D958-49A5-97F7-8590F3E332F6}" type="pres">
      <dgm:prSet presAssocID="{3354D33A-47CF-425C-A16A-DE0B1362632E}" presName="Name0" presStyleCnt="0">
        <dgm:presLayoutVars>
          <dgm:dir/>
          <dgm:resizeHandles val="exact"/>
        </dgm:presLayoutVars>
      </dgm:prSet>
      <dgm:spPr/>
    </dgm:pt>
    <dgm:pt modelId="{B5FE7EC0-B1D0-4B87-804D-5F2836776196}" type="pres">
      <dgm:prSet presAssocID="{E8778A8A-FE7B-4A6C-8BE8-D2DF8A7EE5D3}" presName="node" presStyleLbl="node1" presStyleIdx="0" presStyleCnt="6">
        <dgm:presLayoutVars>
          <dgm:bulletEnabled val="1"/>
        </dgm:presLayoutVars>
      </dgm:prSet>
      <dgm:spPr/>
    </dgm:pt>
    <dgm:pt modelId="{EE1FF3E8-A3FB-47A4-9993-8C79EAE2C08B}" type="pres">
      <dgm:prSet presAssocID="{5EB547AA-621F-4741-956D-AAB4EAEA2ACC}" presName="sibTrans" presStyleLbl="sibTrans1D1" presStyleIdx="0" presStyleCnt="5"/>
      <dgm:spPr/>
    </dgm:pt>
    <dgm:pt modelId="{66686097-1EC2-4B62-B022-163A119EC908}" type="pres">
      <dgm:prSet presAssocID="{5EB547AA-621F-4741-956D-AAB4EAEA2ACC}" presName="connectorText" presStyleLbl="sibTrans1D1" presStyleIdx="0" presStyleCnt="5"/>
      <dgm:spPr/>
    </dgm:pt>
    <dgm:pt modelId="{88222BA9-F276-4DD4-A580-AD01F1E45B89}" type="pres">
      <dgm:prSet presAssocID="{B405B525-C655-4356-A185-456FCC1231A4}" presName="node" presStyleLbl="node1" presStyleIdx="1" presStyleCnt="6">
        <dgm:presLayoutVars>
          <dgm:bulletEnabled val="1"/>
        </dgm:presLayoutVars>
      </dgm:prSet>
      <dgm:spPr/>
    </dgm:pt>
    <dgm:pt modelId="{1309CDD1-0B88-4A15-B9EC-1066A4BFBD48}" type="pres">
      <dgm:prSet presAssocID="{0D0598B3-4C85-4073-9709-997D34B5DBE9}" presName="sibTrans" presStyleLbl="sibTrans1D1" presStyleIdx="1" presStyleCnt="5"/>
      <dgm:spPr/>
    </dgm:pt>
    <dgm:pt modelId="{93C2DAC4-701A-4D13-80A1-E423AB88DA07}" type="pres">
      <dgm:prSet presAssocID="{0D0598B3-4C85-4073-9709-997D34B5DBE9}" presName="connectorText" presStyleLbl="sibTrans1D1" presStyleIdx="1" presStyleCnt="5"/>
      <dgm:spPr/>
    </dgm:pt>
    <dgm:pt modelId="{55E723E1-1D59-443E-AEF1-4B732F91E8FC}" type="pres">
      <dgm:prSet presAssocID="{356E64EA-76DA-4633-97B0-6821A034E374}" presName="node" presStyleLbl="node1" presStyleIdx="2" presStyleCnt="6">
        <dgm:presLayoutVars>
          <dgm:bulletEnabled val="1"/>
        </dgm:presLayoutVars>
      </dgm:prSet>
      <dgm:spPr/>
    </dgm:pt>
    <dgm:pt modelId="{DC706729-5037-4469-ADC7-FCA2CF9AC66C}" type="pres">
      <dgm:prSet presAssocID="{7EE01087-8CA1-4953-865F-C4EFD4B17390}" presName="sibTrans" presStyleLbl="sibTrans1D1" presStyleIdx="2" presStyleCnt="5"/>
      <dgm:spPr/>
    </dgm:pt>
    <dgm:pt modelId="{060ECD90-2F48-43F4-A94E-3988BACFEF27}" type="pres">
      <dgm:prSet presAssocID="{7EE01087-8CA1-4953-865F-C4EFD4B17390}" presName="connectorText" presStyleLbl="sibTrans1D1" presStyleIdx="2" presStyleCnt="5"/>
      <dgm:spPr/>
    </dgm:pt>
    <dgm:pt modelId="{2F411D89-FA25-42E9-B4C4-2A0711FA8068}" type="pres">
      <dgm:prSet presAssocID="{E88A33FC-55B6-4D70-B5FE-8313E1163CFB}" presName="node" presStyleLbl="node1" presStyleIdx="3" presStyleCnt="6">
        <dgm:presLayoutVars>
          <dgm:bulletEnabled val="1"/>
        </dgm:presLayoutVars>
      </dgm:prSet>
      <dgm:spPr/>
    </dgm:pt>
    <dgm:pt modelId="{995E2E9A-2D74-409C-86D6-ED16A10CB698}" type="pres">
      <dgm:prSet presAssocID="{F1F91F70-7C6A-4855-9294-27A4E49F653D}" presName="sibTrans" presStyleLbl="sibTrans1D1" presStyleIdx="3" presStyleCnt="5"/>
      <dgm:spPr/>
    </dgm:pt>
    <dgm:pt modelId="{8719755A-FA45-4EF2-984F-A6D6B75597C4}" type="pres">
      <dgm:prSet presAssocID="{F1F91F70-7C6A-4855-9294-27A4E49F653D}" presName="connectorText" presStyleLbl="sibTrans1D1" presStyleIdx="3" presStyleCnt="5"/>
      <dgm:spPr/>
    </dgm:pt>
    <dgm:pt modelId="{A1C23D96-A4B4-476B-8790-DA803D52AFB2}" type="pres">
      <dgm:prSet presAssocID="{E59393D6-863C-4A9C-A1F2-708B886C38B5}" presName="node" presStyleLbl="node1" presStyleIdx="4" presStyleCnt="6">
        <dgm:presLayoutVars>
          <dgm:bulletEnabled val="1"/>
        </dgm:presLayoutVars>
      </dgm:prSet>
      <dgm:spPr/>
    </dgm:pt>
    <dgm:pt modelId="{809EEBBB-CD8A-4057-A385-154CB3990D4A}" type="pres">
      <dgm:prSet presAssocID="{8F1BD6BE-6270-4772-8CDD-9B8068BBA3BF}" presName="sibTrans" presStyleLbl="sibTrans1D1" presStyleIdx="4" presStyleCnt="5"/>
      <dgm:spPr/>
    </dgm:pt>
    <dgm:pt modelId="{03D48FE7-7B3D-4860-9CA3-2BAAECC2F09A}" type="pres">
      <dgm:prSet presAssocID="{8F1BD6BE-6270-4772-8CDD-9B8068BBA3BF}" presName="connectorText" presStyleLbl="sibTrans1D1" presStyleIdx="4" presStyleCnt="5"/>
      <dgm:spPr/>
    </dgm:pt>
    <dgm:pt modelId="{CD5030B3-5F8C-48A3-BE44-1CE059EDA94C}" type="pres">
      <dgm:prSet presAssocID="{EA758E76-5B3D-4384-B159-2A261434978A}" presName="node" presStyleLbl="node1" presStyleIdx="5" presStyleCnt="6">
        <dgm:presLayoutVars>
          <dgm:bulletEnabled val="1"/>
        </dgm:presLayoutVars>
      </dgm:prSet>
      <dgm:spPr/>
    </dgm:pt>
  </dgm:ptLst>
  <dgm:cxnLst>
    <dgm:cxn modelId="{EC0E3405-484B-4662-B661-6A79A137C8C7}" type="presOf" srcId="{ACD0F789-8025-4D54-94B8-4552115501B2}" destId="{CD5030B3-5F8C-48A3-BE44-1CE059EDA94C}" srcOrd="0" destOrd="2" presId="urn:microsoft.com/office/officeart/2016/7/layout/RepeatingBendingProcessNew"/>
    <dgm:cxn modelId="{EED1FE06-6C56-4E74-863E-0FFEDFF3D0E4}" type="presOf" srcId="{356E64EA-76DA-4633-97B0-6821A034E374}" destId="{55E723E1-1D59-443E-AEF1-4B732F91E8FC}" srcOrd="0" destOrd="0" presId="urn:microsoft.com/office/officeart/2016/7/layout/RepeatingBendingProcessNew"/>
    <dgm:cxn modelId="{773FF608-3D9A-43E0-8FBE-371EE67989A9}" srcId="{3354D33A-47CF-425C-A16A-DE0B1362632E}" destId="{B405B525-C655-4356-A185-456FCC1231A4}" srcOrd="1" destOrd="0" parTransId="{70458335-FC51-408D-A77C-849F6FF9E836}" sibTransId="{0D0598B3-4C85-4073-9709-997D34B5DBE9}"/>
    <dgm:cxn modelId="{DF73AD0D-D784-4485-8E6C-CF92558E73EC}" srcId="{E88A33FC-55B6-4D70-B5FE-8313E1163CFB}" destId="{4FFBD921-F9A4-4A9B-9FFA-C9A522391126}" srcOrd="0" destOrd="0" parTransId="{DEA65119-A419-4B53-B415-D3578148E899}" sibTransId="{9515EFB9-84C7-4D42-A914-AC6D057D257C}"/>
    <dgm:cxn modelId="{B517FD1C-7E44-46BD-8EBF-8A6BBA4ECE50}" type="presOf" srcId="{5EB547AA-621F-4741-956D-AAB4EAEA2ACC}" destId="{66686097-1EC2-4B62-B022-163A119EC908}" srcOrd="1" destOrd="0" presId="urn:microsoft.com/office/officeart/2016/7/layout/RepeatingBendingProcessNew"/>
    <dgm:cxn modelId="{FEB7BB1D-8B42-4A9F-B019-D0A8368B9A87}" type="presOf" srcId="{E88A33FC-55B6-4D70-B5FE-8313E1163CFB}" destId="{2F411D89-FA25-42E9-B4C4-2A0711FA8068}" srcOrd="0" destOrd="0" presId="urn:microsoft.com/office/officeart/2016/7/layout/RepeatingBendingProcessNew"/>
    <dgm:cxn modelId="{1100D626-1F22-486F-9E1D-57B3D33F1590}" type="presOf" srcId="{7EE01087-8CA1-4953-865F-C4EFD4B17390}" destId="{DC706729-5037-4469-ADC7-FCA2CF9AC66C}" srcOrd="0" destOrd="0" presId="urn:microsoft.com/office/officeart/2016/7/layout/RepeatingBendingProcessNew"/>
    <dgm:cxn modelId="{2D7D9327-3C92-432D-9FBC-24EA7FD0805D}" srcId="{356E64EA-76DA-4633-97B0-6821A034E374}" destId="{8A50DED4-C40D-42CB-A2AD-A5563959F7DF}" srcOrd="1" destOrd="0" parTransId="{915989C7-1D47-421C-87B0-86472AAB37DE}" sibTransId="{25515C61-463D-43C0-97A4-BCBBC9F984AE}"/>
    <dgm:cxn modelId="{73D3E02A-C390-4742-9E1F-6DB0C321BD89}" srcId="{3354D33A-47CF-425C-A16A-DE0B1362632E}" destId="{E88A33FC-55B6-4D70-B5FE-8313E1163CFB}" srcOrd="3" destOrd="0" parTransId="{D9679D86-BE69-4B18-B49E-2DCD1EDF7833}" sibTransId="{F1F91F70-7C6A-4855-9294-27A4E49F653D}"/>
    <dgm:cxn modelId="{7662C22C-2A49-46BD-9286-7214E56DC774}" type="presOf" srcId="{F1F91F70-7C6A-4855-9294-27A4E49F653D}" destId="{995E2E9A-2D74-409C-86D6-ED16A10CB698}" srcOrd="0" destOrd="0" presId="urn:microsoft.com/office/officeart/2016/7/layout/RepeatingBendingProcessNew"/>
    <dgm:cxn modelId="{24B1212F-281B-4510-A46E-88399D4262B7}" type="presOf" srcId="{8647AFDD-B704-4D99-8073-9B08B55596E6}" destId="{55E723E1-1D59-443E-AEF1-4B732F91E8FC}" srcOrd="0" destOrd="1" presId="urn:microsoft.com/office/officeart/2016/7/layout/RepeatingBendingProcessNew"/>
    <dgm:cxn modelId="{E44A1838-E618-44EC-9D4A-F0B47597E4E7}" srcId="{E59393D6-863C-4A9C-A1F2-708B886C38B5}" destId="{9791FE0D-39BE-4AC9-BD52-D7101A8FF9BD}" srcOrd="0" destOrd="0" parTransId="{61016F4C-BC05-4334-BFC7-0ECD63462C0E}" sibTransId="{3C7B603D-2442-4A8C-9D94-62FB1D37766F}"/>
    <dgm:cxn modelId="{70E9953B-CF08-4730-BB97-26C05DB2D74F}" type="presOf" srcId="{E59393D6-863C-4A9C-A1F2-708B886C38B5}" destId="{A1C23D96-A4B4-476B-8790-DA803D52AFB2}" srcOrd="0" destOrd="0" presId="urn:microsoft.com/office/officeart/2016/7/layout/RepeatingBendingProcessNew"/>
    <dgm:cxn modelId="{3EAAAB5F-466E-46CB-A039-3A4E7F3B10CF}" type="presOf" srcId="{3354D33A-47CF-425C-A16A-DE0B1362632E}" destId="{21B20921-D958-49A5-97F7-8590F3E332F6}" srcOrd="0" destOrd="0" presId="urn:microsoft.com/office/officeart/2016/7/layout/RepeatingBendingProcessNew"/>
    <dgm:cxn modelId="{2C103E64-126E-4F05-8BB4-C72E9D259305}" srcId="{3354D33A-47CF-425C-A16A-DE0B1362632E}" destId="{E8778A8A-FE7B-4A6C-8BE8-D2DF8A7EE5D3}" srcOrd="0" destOrd="0" parTransId="{DF70D4F9-74AF-4098-B7B1-107A982BC568}" sibTransId="{5EB547AA-621F-4741-956D-AAB4EAEA2ACC}"/>
    <dgm:cxn modelId="{B91D4468-BD40-4D2D-9B2A-F57E38B801DF}" type="presOf" srcId="{8A50DED4-C40D-42CB-A2AD-A5563959F7DF}" destId="{55E723E1-1D59-443E-AEF1-4B732F91E8FC}" srcOrd="0" destOrd="2" presId="urn:microsoft.com/office/officeart/2016/7/layout/RepeatingBendingProcessNew"/>
    <dgm:cxn modelId="{1D2EC94A-1479-4657-8DAA-C66772DFF3CB}" type="presOf" srcId="{B405B525-C655-4356-A185-456FCC1231A4}" destId="{88222BA9-F276-4DD4-A580-AD01F1E45B89}" srcOrd="0" destOrd="0" presId="urn:microsoft.com/office/officeart/2016/7/layout/RepeatingBendingProcessNew"/>
    <dgm:cxn modelId="{D639AB4B-072D-4599-97AD-D46115403FEB}" srcId="{EA758E76-5B3D-4384-B159-2A261434978A}" destId="{54C4A43C-0160-4952-A01E-7E638B19CEE9}" srcOrd="0" destOrd="0" parTransId="{0E11A67B-5234-4AE5-B582-2B147DA840FB}" sibTransId="{543FCF5B-484E-4A7A-A69E-5095B5AA8986}"/>
    <dgm:cxn modelId="{09065F51-EC47-4DFF-9DB2-B67B766D6049}" type="presOf" srcId="{E8778A8A-FE7B-4A6C-8BE8-D2DF8A7EE5D3}" destId="{B5FE7EC0-B1D0-4B87-804D-5F2836776196}" srcOrd="0" destOrd="0" presId="urn:microsoft.com/office/officeart/2016/7/layout/RepeatingBendingProcessNew"/>
    <dgm:cxn modelId="{AD2F4551-AAF3-4376-85AF-054679983C61}" type="presOf" srcId="{9791FE0D-39BE-4AC9-BD52-D7101A8FF9BD}" destId="{A1C23D96-A4B4-476B-8790-DA803D52AFB2}" srcOrd="0" destOrd="1" presId="urn:microsoft.com/office/officeart/2016/7/layout/RepeatingBendingProcessNew"/>
    <dgm:cxn modelId="{58E8D073-51BE-48E8-B2D7-0BAB0846A4AE}" type="presOf" srcId="{8F1BD6BE-6270-4772-8CDD-9B8068BBA3BF}" destId="{03D48FE7-7B3D-4860-9CA3-2BAAECC2F09A}" srcOrd="1" destOrd="0" presId="urn:microsoft.com/office/officeart/2016/7/layout/RepeatingBendingProcessNew"/>
    <dgm:cxn modelId="{D3D36C5A-9393-49CA-B87C-9EC8C51D513D}" srcId="{3354D33A-47CF-425C-A16A-DE0B1362632E}" destId="{E59393D6-863C-4A9C-A1F2-708B886C38B5}" srcOrd="4" destOrd="0" parTransId="{21C24F9E-ED99-4932-8DBE-CDAFA585810C}" sibTransId="{8F1BD6BE-6270-4772-8CDD-9B8068BBA3BF}"/>
    <dgm:cxn modelId="{7558907B-6FDC-41AD-9D52-A9329458A1AE}" type="presOf" srcId="{0D0598B3-4C85-4073-9709-997D34B5DBE9}" destId="{1309CDD1-0B88-4A15-B9EC-1066A4BFBD48}" srcOrd="0" destOrd="0" presId="urn:microsoft.com/office/officeart/2016/7/layout/RepeatingBendingProcessNew"/>
    <dgm:cxn modelId="{CE931C7D-54A9-446E-87F8-97B283E46C2B}" type="presOf" srcId="{F1F91F70-7C6A-4855-9294-27A4E49F653D}" destId="{8719755A-FA45-4EF2-984F-A6D6B75597C4}" srcOrd="1" destOrd="0" presId="urn:microsoft.com/office/officeart/2016/7/layout/RepeatingBendingProcessNew"/>
    <dgm:cxn modelId="{EDD4347D-EC67-405F-8B63-8685EFFCC786}" srcId="{3354D33A-47CF-425C-A16A-DE0B1362632E}" destId="{356E64EA-76DA-4633-97B0-6821A034E374}" srcOrd="2" destOrd="0" parTransId="{6B2C12AD-80A7-4FA5-AFBC-44232C62AB9F}" sibTransId="{7EE01087-8CA1-4953-865F-C4EFD4B17390}"/>
    <dgm:cxn modelId="{430A139B-953C-44C5-AB3A-9C88AD86C4A0}" srcId="{356E64EA-76DA-4633-97B0-6821A034E374}" destId="{8647AFDD-B704-4D99-8073-9B08B55596E6}" srcOrd="0" destOrd="0" parTransId="{22F564D1-D9C0-4AA9-AF07-23E4B0A5C9B5}" sibTransId="{989C5065-1032-43E2-98ED-827E9541688C}"/>
    <dgm:cxn modelId="{77E3BA9C-5390-45A5-BF00-C7E9875A9088}" srcId="{3354D33A-47CF-425C-A16A-DE0B1362632E}" destId="{EA758E76-5B3D-4384-B159-2A261434978A}" srcOrd="5" destOrd="0" parTransId="{40417E53-6BDD-45C1-BF3A-2F39E46F63A1}" sibTransId="{4DC6ED05-C388-40CF-A5C2-284B7AC57BE7}"/>
    <dgm:cxn modelId="{181E7EA3-2B23-467B-8605-BC43B127DD10}" type="presOf" srcId="{8F1BD6BE-6270-4772-8CDD-9B8068BBA3BF}" destId="{809EEBBB-CD8A-4057-A385-154CB3990D4A}" srcOrd="0" destOrd="0" presId="urn:microsoft.com/office/officeart/2016/7/layout/RepeatingBendingProcessNew"/>
    <dgm:cxn modelId="{41F36AB0-B6A5-4E52-AB07-02298D490E20}" type="presOf" srcId="{6DE83850-5056-4C29-8D83-ABE6FE7B78F3}" destId="{2F411D89-FA25-42E9-B4C4-2A0711FA8068}" srcOrd="0" destOrd="2" presId="urn:microsoft.com/office/officeart/2016/7/layout/RepeatingBendingProcessNew"/>
    <dgm:cxn modelId="{977759C6-3D5E-42DE-A985-6382517060C7}" type="presOf" srcId="{54C4A43C-0160-4952-A01E-7E638B19CEE9}" destId="{CD5030B3-5F8C-48A3-BE44-1CE059EDA94C}" srcOrd="0" destOrd="1" presId="urn:microsoft.com/office/officeart/2016/7/layout/RepeatingBendingProcessNew"/>
    <dgm:cxn modelId="{54BC9FD5-DC1E-4286-A2CA-3FEF38EC2CF0}" type="presOf" srcId="{0D0598B3-4C85-4073-9709-997D34B5DBE9}" destId="{93C2DAC4-701A-4D13-80A1-E423AB88DA07}" srcOrd="1" destOrd="0" presId="urn:microsoft.com/office/officeart/2016/7/layout/RepeatingBendingProcessNew"/>
    <dgm:cxn modelId="{A2B584D7-9247-43D6-9F2F-C83198C7B4CE}" type="presOf" srcId="{7EE01087-8CA1-4953-865F-C4EFD4B17390}" destId="{060ECD90-2F48-43F4-A94E-3988BACFEF27}" srcOrd="1" destOrd="0" presId="urn:microsoft.com/office/officeart/2016/7/layout/RepeatingBendingProcessNew"/>
    <dgm:cxn modelId="{B49776DA-581B-480E-9833-A4814A0CB542}" srcId="{EA758E76-5B3D-4384-B159-2A261434978A}" destId="{ACD0F789-8025-4D54-94B8-4552115501B2}" srcOrd="1" destOrd="0" parTransId="{32082ACA-A552-487F-899B-99CF36263976}" sibTransId="{341F1B1C-CAC0-4A02-9200-DCC56922460B}"/>
    <dgm:cxn modelId="{5B1A9DEA-24B1-4F59-BF11-C864F92064FE}" type="presOf" srcId="{4FFBD921-F9A4-4A9B-9FFA-C9A522391126}" destId="{2F411D89-FA25-42E9-B4C4-2A0711FA8068}" srcOrd="0" destOrd="1" presId="urn:microsoft.com/office/officeart/2016/7/layout/RepeatingBendingProcessNew"/>
    <dgm:cxn modelId="{1001EEEE-D541-44FD-89CC-1D68F3EF4951}" type="presOf" srcId="{5EB547AA-621F-4741-956D-AAB4EAEA2ACC}" destId="{EE1FF3E8-A3FB-47A4-9993-8C79EAE2C08B}" srcOrd="0" destOrd="0" presId="urn:microsoft.com/office/officeart/2016/7/layout/RepeatingBendingProcessNew"/>
    <dgm:cxn modelId="{5DA20CFA-0C37-451A-8862-866065A076FB}" srcId="{E88A33FC-55B6-4D70-B5FE-8313E1163CFB}" destId="{6DE83850-5056-4C29-8D83-ABE6FE7B78F3}" srcOrd="1" destOrd="0" parTransId="{8F458703-CDDC-4F3B-AA33-ABEBD8F4E8BC}" sibTransId="{31219E88-9F81-440E-A10B-D3C85D8B73A4}"/>
    <dgm:cxn modelId="{F4EEC4FD-B585-4E79-9DDA-8FEC52E918B8}" type="presOf" srcId="{EA758E76-5B3D-4384-B159-2A261434978A}" destId="{CD5030B3-5F8C-48A3-BE44-1CE059EDA94C}" srcOrd="0" destOrd="0" presId="urn:microsoft.com/office/officeart/2016/7/layout/RepeatingBendingProcessNew"/>
    <dgm:cxn modelId="{122CECF9-A4F3-4F2E-817A-3AD685E21A9C}" type="presParOf" srcId="{21B20921-D958-49A5-97F7-8590F3E332F6}" destId="{B5FE7EC0-B1D0-4B87-804D-5F2836776196}" srcOrd="0" destOrd="0" presId="urn:microsoft.com/office/officeart/2016/7/layout/RepeatingBendingProcessNew"/>
    <dgm:cxn modelId="{CD2E483C-0E22-4674-ABE2-F757ED9C098E}" type="presParOf" srcId="{21B20921-D958-49A5-97F7-8590F3E332F6}" destId="{EE1FF3E8-A3FB-47A4-9993-8C79EAE2C08B}" srcOrd="1" destOrd="0" presId="urn:microsoft.com/office/officeart/2016/7/layout/RepeatingBendingProcessNew"/>
    <dgm:cxn modelId="{04981956-AEAA-42C0-866A-EA35C6A72ED1}" type="presParOf" srcId="{EE1FF3E8-A3FB-47A4-9993-8C79EAE2C08B}" destId="{66686097-1EC2-4B62-B022-163A119EC908}" srcOrd="0" destOrd="0" presId="urn:microsoft.com/office/officeart/2016/7/layout/RepeatingBendingProcessNew"/>
    <dgm:cxn modelId="{E38D7BCD-C436-48B5-9D94-BE0757240827}" type="presParOf" srcId="{21B20921-D958-49A5-97F7-8590F3E332F6}" destId="{88222BA9-F276-4DD4-A580-AD01F1E45B89}" srcOrd="2" destOrd="0" presId="urn:microsoft.com/office/officeart/2016/7/layout/RepeatingBendingProcessNew"/>
    <dgm:cxn modelId="{0CEE0613-2409-4F77-B974-3AEC7653E57E}" type="presParOf" srcId="{21B20921-D958-49A5-97F7-8590F3E332F6}" destId="{1309CDD1-0B88-4A15-B9EC-1066A4BFBD48}" srcOrd="3" destOrd="0" presId="urn:microsoft.com/office/officeart/2016/7/layout/RepeatingBendingProcessNew"/>
    <dgm:cxn modelId="{D5354C5B-7724-4606-BEA4-C5EFCED06394}" type="presParOf" srcId="{1309CDD1-0B88-4A15-B9EC-1066A4BFBD48}" destId="{93C2DAC4-701A-4D13-80A1-E423AB88DA07}" srcOrd="0" destOrd="0" presId="urn:microsoft.com/office/officeart/2016/7/layout/RepeatingBendingProcessNew"/>
    <dgm:cxn modelId="{D5714A33-F72F-4A31-A057-572BB5A12C81}" type="presParOf" srcId="{21B20921-D958-49A5-97F7-8590F3E332F6}" destId="{55E723E1-1D59-443E-AEF1-4B732F91E8FC}" srcOrd="4" destOrd="0" presId="urn:microsoft.com/office/officeart/2016/7/layout/RepeatingBendingProcessNew"/>
    <dgm:cxn modelId="{FB092CD2-3A6B-4534-8F77-1BC5451983CF}" type="presParOf" srcId="{21B20921-D958-49A5-97F7-8590F3E332F6}" destId="{DC706729-5037-4469-ADC7-FCA2CF9AC66C}" srcOrd="5" destOrd="0" presId="urn:microsoft.com/office/officeart/2016/7/layout/RepeatingBendingProcessNew"/>
    <dgm:cxn modelId="{A50D6533-DD91-4922-8517-75673D98529D}" type="presParOf" srcId="{DC706729-5037-4469-ADC7-FCA2CF9AC66C}" destId="{060ECD90-2F48-43F4-A94E-3988BACFEF27}" srcOrd="0" destOrd="0" presId="urn:microsoft.com/office/officeart/2016/7/layout/RepeatingBendingProcessNew"/>
    <dgm:cxn modelId="{35AC9C43-0C05-4DAC-A1DD-0835EF055B8F}" type="presParOf" srcId="{21B20921-D958-49A5-97F7-8590F3E332F6}" destId="{2F411D89-FA25-42E9-B4C4-2A0711FA8068}" srcOrd="6" destOrd="0" presId="urn:microsoft.com/office/officeart/2016/7/layout/RepeatingBendingProcessNew"/>
    <dgm:cxn modelId="{C36D3996-3C03-4F0F-B59C-995E0BDD1564}" type="presParOf" srcId="{21B20921-D958-49A5-97F7-8590F3E332F6}" destId="{995E2E9A-2D74-409C-86D6-ED16A10CB698}" srcOrd="7" destOrd="0" presId="urn:microsoft.com/office/officeart/2016/7/layout/RepeatingBendingProcessNew"/>
    <dgm:cxn modelId="{418DA49C-D246-4EC5-AD3D-3DBBDA4E045F}" type="presParOf" srcId="{995E2E9A-2D74-409C-86D6-ED16A10CB698}" destId="{8719755A-FA45-4EF2-984F-A6D6B75597C4}" srcOrd="0" destOrd="0" presId="urn:microsoft.com/office/officeart/2016/7/layout/RepeatingBendingProcessNew"/>
    <dgm:cxn modelId="{394F82C6-92CF-4380-B109-6861213F088A}" type="presParOf" srcId="{21B20921-D958-49A5-97F7-8590F3E332F6}" destId="{A1C23D96-A4B4-476B-8790-DA803D52AFB2}" srcOrd="8" destOrd="0" presId="urn:microsoft.com/office/officeart/2016/7/layout/RepeatingBendingProcessNew"/>
    <dgm:cxn modelId="{A99EF579-2F36-4C0D-AF69-547E242603F7}" type="presParOf" srcId="{21B20921-D958-49A5-97F7-8590F3E332F6}" destId="{809EEBBB-CD8A-4057-A385-154CB3990D4A}" srcOrd="9" destOrd="0" presId="urn:microsoft.com/office/officeart/2016/7/layout/RepeatingBendingProcessNew"/>
    <dgm:cxn modelId="{2CE028D8-2047-4032-887A-743E8021D1FC}" type="presParOf" srcId="{809EEBBB-CD8A-4057-A385-154CB3990D4A}" destId="{03D48FE7-7B3D-4860-9CA3-2BAAECC2F09A}" srcOrd="0" destOrd="0" presId="urn:microsoft.com/office/officeart/2016/7/layout/RepeatingBendingProcessNew"/>
    <dgm:cxn modelId="{A698BB6C-239F-4CB4-9C05-F88ED9EDB6F0}" type="presParOf" srcId="{21B20921-D958-49A5-97F7-8590F3E332F6}" destId="{CD5030B3-5F8C-48A3-BE44-1CE059EDA94C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43E6BE-1770-42E4-A920-54FCDD7222F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6CD3CEC-7623-487E-B9B6-8493E225535E}">
      <dgm:prSet custT="1"/>
      <dgm:spPr/>
      <dgm:t>
        <a:bodyPr/>
        <a:lstStyle/>
        <a:p>
          <a:r>
            <a:rPr lang="en-IN" sz="1400" b="1"/>
            <a:t>Data Sources: </a:t>
          </a:r>
        </a:p>
        <a:p>
          <a:r>
            <a:rPr lang="en-IN" sz="1200" err="1"/>
            <a:t>SciEntsBank</a:t>
          </a:r>
          <a:r>
            <a:rPr lang="en-IN" sz="1200"/>
            <a:t> (scientific QA),Mohler &amp; Mihalcea (technical QA),STS Benchmark (semantic pretraining)</a:t>
          </a:r>
          <a:endParaRPr lang="en-US" sz="1200"/>
        </a:p>
      </dgm:t>
    </dgm:pt>
    <dgm:pt modelId="{ED7903D5-A22C-4B64-BFAB-F16DDD68EE00}" type="parTrans" cxnId="{0CF34E8A-2DD7-4AA6-87F1-430E9B7E7CDE}">
      <dgm:prSet/>
      <dgm:spPr/>
      <dgm:t>
        <a:bodyPr/>
        <a:lstStyle/>
        <a:p>
          <a:endParaRPr lang="en-US"/>
        </a:p>
      </dgm:t>
    </dgm:pt>
    <dgm:pt modelId="{E8814C34-5445-4E61-A82D-18E37B576A2B}" type="sibTrans" cxnId="{0CF34E8A-2DD7-4AA6-87F1-430E9B7E7CDE}">
      <dgm:prSet/>
      <dgm:spPr/>
      <dgm:t>
        <a:bodyPr/>
        <a:lstStyle/>
        <a:p>
          <a:endParaRPr lang="en-US"/>
        </a:p>
      </dgm:t>
    </dgm:pt>
    <dgm:pt modelId="{10F4CA92-CB74-4D2F-BE29-0C8A5580EF26}">
      <dgm:prSet custT="1"/>
      <dgm:spPr/>
      <dgm:t>
        <a:bodyPr/>
        <a:lstStyle/>
        <a:p>
          <a:r>
            <a:rPr lang="en-IN" sz="1400" b="1"/>
            <a:t>Ingestion &amp; Parsing: </a:t>
          </a:r>
        </a:p>
        <a:p>
          <a:r>
            <a:rPr lang="en-IN" sz="1200"/>
            <a:t>Teacher and Student answer pairs</a:t>
          </a:r>
          <a:endParaRPr lang="en-US" sz="1200"/>
        </a:p>
      </dgm:t>
    </dgm:pt>
    <dgm:pt modelId="{A44C6C3F-0BB1-4F53-9E9C-2D83AE30F54A}" type="parTrans" cxnId="{C1CA4C56-A116-4400-B478-4866E7B13D9B}">
      <dgm:prSet/>
      <dgm:spPr/>
      <dgm:t>
        <a:bodyPr/>
        <a:lstStyle/>
        <a:p>
          <a:endParaRPr lang="en-US"/>
        </a:p>
      </dgm:t>
    </dgm:pt>
    <dgm:pt modelId="{BD47CB3C-A739-40CC-A273-FFCB1DE1CD81}" type="sibTrans" cxnId="{C1CA4C56-A116-4400-B478-4866E7B13D9B}">
      <dgm:prSet/>
      <dgm:spPr/>
      <dgm:t>
        <a:bodyPr/>
        <a:lstStyle/>
        <a:p>
          <a:endParaRPr lang="en-US"/>
        </a:p>
      </dgm:t>
    </dgm:pt>
    <dgm:pt modelId="{781E6D5B-388F-4ECF-8787-D320E52E74B9}">
      <dgm:prSet custT="1"/>
      <dgm:spPr/>
      <dgm:t>
        <a:bodyPr/>
        <a:lstStyle/>
        <a:p>
          <a:r>
            <a:rPr lang="en-IN" sz="1400" b="1"/>
            <a:t>Preprocessing Pipeline </a:t>
          </a:r>
        </a:p>
        <a:p>
          <a:r>
            <a:rPr lang="en-IN" sz="1200"/>
            <a:t>Text cleaning: Lowercase, remove Prefixes, Punctuation and Whitespace, Tokenization, Normalization </a:t>
          </a:r>
          <a:endParaRPr lang="en-US" sz="1200"/>
        </a:p>
      </dgm:t>
    </dgm:pt>
    <dgm:pt modelId="{9E61D281-7698-408D-A611-172E076EB0E5}" type="parTrans" cxnId="{E4C004F7-A3A0-4B76-9733-C328998F7C77}">
      <dgm:prSet/>
      <dgm:spPr/>
      <dgm:t>
        <a:bodyPr/>
        <a:lstStyle/>
        <a:p>
          <a:endParaRPr lang="en-US"/>
        </a:p>
      </dgm:t>
    </dgm:pt>
    <dgm:pt modelId="{5F7B08BC-61DE-41E8-9AA3-B907D1B3B5BE}" type="sibTrans" cxnId="{E4C004F7-A3A0-4B76-9733-C328998F7C77}">
      <dgm:prSet/>
      <dgm:spPr/>
      <dgm:t>
        <a:bodyPr/>
        <a:lstStyle/>
        <a:p>
          <a:endParaRPr lang="en-US"/>
        </a:p>
      </dgm:t>
    </dgm:pt>
    <dgm:pt modelId="{C8B7512B-3D2F-4F9E-9116-8D77D85E0FAE}">
      <dgm:prSet custT="1"/>
      <dgm:spPr/>
      <dgm:t>
        <a:bodyPr/>
        <a:lstStyle/>
        <a:p>
          <a:r>
            <a:rPr lang="en-IN" sz="1400" b="1"/>
            <a:t>Feature Engineering </a:t>
          </a:r>
        </a:p>
        <a:p>
          <a:r>
            <a:rPr lang="en-IN" sz="1200"/>
            <a:t>TF-IDF vectorization, SBERT / BERT embeddings, Extra lexical features: answer length, keyword overlap</a:t>
          </a:r>
          <a:endParaRPr lang="en-US" sz="1200"/>
        </a:p>
      </dgm:t>
    </dgm:pt>
    <dgm:pt modelId="{64923370-460F-48B5-908D-94DE4387E272}" type="parTrans" cxnId="{E2FE88CC-E0AC-4D29-8566-17BB33415CFE}">
      <dgm:prSet/>
      <dgm:spPr/>
      <dgm:t>
        <a:bodyPr/>
        <a:lstStyle/>
        <a:p>
          <a:endParaRPr lang="en-US"/>
        </a:p>
      </dgm:t>
    </dgm:pt>
    <dgm:pt modelId="{0D5261D9-18C2-4D3A-8481-DA57903BC0CF}" type="sibTrans" cxnId="{E2FE88CC-E0AC-4D29-8566-17BB33415CFE}">
      <dgm:prSet/>
      <dgm:spPr/>
      <dgm:t>
        <a:bodyPr/>
        <a:lstStyle/>
        <a:p>
          <a:endParaRPr lang="en-US"/>
        </a:p>
      </dgm:t>
    </dgm:pt>
    <dgm:pt modelId="{4F1BE16C-2A20-486F-B4CB-EADAFD3898E0}">
      <dgm:prSet custT="1"/>
      <dgm:spPr/>
      <dgm:t>
        <a:bodyPr/>
        <a:lstStyle/>
        <a:p>
          <a:r>
            <a:rPr lang="en-US" sz="1400" b="1"/>
            <a:t>Modeling Layer (Two branches)</a:t>
          </a:r>
          <a:r>
            <a:rPr lang="en-US" sz="1400"/>
            <a:t> </a:t>
          </a:r>
        </a:p>
        <a:p>
          <a:r>
            <a:rPr lang="en-US" sz="1200" b="1"/>
            <a:t>Baseline Model:</a:t>
          </a:r>
          <a:r>
            <a:rPr lang="en-US" sz="1200"/>
            <a:t> TF-IDF + Ridge Regression</a:t>
          </a:r>
        </a:p>
        <a:p>
          <a:r>
            <a:rPr lang="en-US" sz="1200" b="1"/>
            <a:t>Advanced Model:</a:t>
          </a:r>
          <a:r>
            <a:rPr lang="en-US" sz="1200"/>
            <a:t> Fine-tuned </a:t>
          </a:r>
          <a:r>
            <a:rPr lang="en-US" sz="1200" err="1"/>
            <a:t>DeBERTa</a:t>
          </a:r>
          <a:r>
            <a:rPr lang="en-US" sz="1200"/>
            <a:t> Cross-Encoder with regression head</a:t>
          </a:r>
        </a:p>
      </dgm:t>
    </dgm:pt>
    <dgm:pt modelId="{74C0F3C9-FA16-467E-8F91-0D66651CE5A1}" type="parTrans" cxnId="{6643176C-5ADF-4021-A74C-76BEA8AC0A05}">
      <dgm:prSet/>
      <dgm:spPr/>
      <dgm:t>
        <a:bodyPr/>
        <a:lstStyle/>
        <a:p>
          <a:endParaRPr lang="en-US"/>
        </a:p>
      </dgm:t>
    </dgm:pt>
    <dgm:pt modelId="{EC6F0831-0C95-450C-85A2-3698BA0B6EAF}" type="sibTrans" cxnId="{6643176C-5ADF-4021-A74C-76BEA8AC0A05}">
      <dgm:prSet/>
      <dgm:spPr/>
      <dgm:t>
        <a:bodyPr/>
        <a:lstStyle/>
        <a:p>
          <a:endParaRPr lang="en-US"/>
        </a:p>
      </dgm:t>
    </dgm:pt>
    <dgm:pt modelId="{BA2C7A29-18E4-4C28-84EC-2BDF19BC661A}">
      <dgm:prSet custT="1"/>
      <dgm:spPr/>
      <dgm:t>
        <a:bodyPr/>
        <a:lstStyle/>
        <a:p>
          <a:r>
            <a:rPr lang="en-US" sz="1400" b="1"/>
            <a:t>Ensemble &amp; Calibration </a:t>
          </a:r>
        </a:p>
        <a:p>
          <a:r>
            <a:rPr lang="en-US" sz="1200"/>
            <a:t>Selection based on QWK, Re-scale outputs to the original scoring range</a:t>
          </a:r>
        </a:p>
      </dgm:t>
    </dgm:pt>
    <dgm:pt modelId="{9D58E8FF-38B9-4206-A818-F0D06CB35F36}" type="parTrans" cxnId="{AA884FAB-E593-4098-90DB-ADD716F2E3FA}">
      <dgm:prSet/>
      <dgm:spPr/>
      <dgm:t>
        <a:bodyPr/>
        <a:lstStyle/>
        <a:p>
          <a:endParaRPr lang="en-US"/>
        </a:p>
      </dgm:t>
    </dgm:pt>
    <dgm:pt modelId="{7CBFE88B-05F7-42A7-A907-84582AB7F3D5}" type="sibTrans" cxnId="{AA884FAB-E593-4098-90DB-ADD716F2E3FA}">
      <dgm:prSet/>
      <dgm:spPr/>
      <dgm:t>
        <a:bodyPr/>
        <a:lstStyle/>
        <a:p>
          <a:endParaRPr lang="en-US"/>
        </a:p>
      </dgm:t>
    </dgm:pt>
    <dgm:pt modelId="{01CA9BE8-8A6D-40D6-8B39-9E7A67E7E68F}">
      <dgm:prSet custT="1"/>
      <dgm:spPr/>
      <dgm:t>
        <a:bodyPr/>
        <a:lstStyle/>
        <a:p>
          <a:r>
            <a:rPr lang="en-US" sz="1400" b="1"/>
            <a:t>Evaluation</a:t>
          </a:r>
          <a:r>
            <a:rPr lang="en-US" sz="1400"/>
            <a:t> </a:t>
          </a:r>
        </a:p>
        <a:p>
          <a:r>
            <a:rPr lang="en-US" sz="1200"/>
            <a:t>MSE and Quadratic Weighted Kappa (QWK)</a:t>
          </a:r>
        </a:p>
      </dgm:t>
    </dgm:pt>
    <dgm:pt modelId="{2B91432E-9EE9-45F6-BB94-C9EF54AF825E}" type="parTrans" cxnId="{D4656B7A-558F-4568-B699-1BA0D3B9F62B}">
      <dgm:prSet/>
      <dgm:spPr/>
      <dgm:t>
        <a:bodyPr/>
        <a:lstStyle/>
        <a:p>
          <a:endParaRPr lang="en-US"/>
        </a:p>
      </dgm:t>
    </dgm:pt>
    <dgm:pt modelId="{D898D218-25D9-4285-9C5F-15129520C1BA}" type="sibTrans" cxnId="{D4656B7A-558F-4568-B699-1BA0D3B9F62B}">
      <dgm:prSet/>
      <dgm:spPr/>
      <dgm:t>
        <a:bodyPr/>
        <a:lstStyle/>
        <a:p>
          <a:endParaRPr lang="en-US"/>
        </a:p>
      </dgm:t>
    </dgm:pt>
    <dgm:pt modelId="{0F4EDBA0-75D8-4E91-BD19-6AFF4893A28F}">
      <dgm:prSet custT="1"/>
      <dgm:spPr/>
      <dgm:t>
        <a:bodyPr/>
        <a:lstStyle/>
        <a:p>
          <a:r>
            <a:rPr lang="en-US" sz="1400" b="1"/>
            <a:t>Output &amp; Export </a:t>
          </a:r>
        </a:p>
        <a:p>
          <a:r>
            <a:rPr lang="en-US" sz="1200"/>
            <a:t>Produce grades</a:t>
          </a:r>
        </a:p>
      </dgm:t>
    </dgm:pt>
    <dgm:pt modelId="{D58E319F-93C2-4018-BE8B-0D5ED2B45C7F}" type="parTrans" cxnId="{6BB39CF7-572C-4E2D-B523-822EC8D5C9B3}">
      <dgm:prSet/>
      <dgm:spPr/>
      <dgm:t>
        <a:bodyPr/>
        <a:lstStyle/>
        <a:p>
          <a:endParaRPr lang="en-US"/>
        </a:p>
      </dgm:t>
    </dgm:pt>
    <dgm:pt modelId="{61F68F28-01BA-40FE-87EF-1909B208861E}" type="sibTrans" cxnId="{6BB39CF7-572C-4E2D-B523-822EC8D5C9B3}">
      <dgm:prSet/>
      <dgm:spPr/>
      <dgm:t>
        <a:bodyPr/>
        <a:lstStyle/>
        <a:p>
          <a:endParaRPr lang="en-US"/>
        </a:p>
      </dgm:t>
    </dgm:pt>
    <dgm:pt modelId="{29532D8A-6DCD-4F4C-840C-A70F83763FC9}" type="pres">
      <dgm:prSet presAssocID="{8D43E6BE-1770-42E4-A920-54FCDD7222F3}" presName="Name0" presStyleCnt="0">
        <dgm:presLayoutVars>
          <dgm:dir/>
          <dgm:resizeHandles val="exact"/>
        </dgm:presLayoutVars>
      </dgm:prSet>
      <dgm:spPr/>
    </dgm:pt>
    <dgm:pt modelId="{88C2175F-7CDD-41B4-BCF2-87536DD8E570}" type="pres">
      <dgm:prSet presAssocID="{76CD3CEC-7623-487E-B9B6-8493E225535E}" presName="node" presStyleLbl="node1" presStyleIdx="0" presStyleCnt="8">
        <dgm:presLayoutVars>
          <dgm:bulletEnabled val="1"/>
        </dgm:presLayoutVars>
      </dgm:prSet>
      <dgm:spPr/>
    </dgm:pt>
    <dgm:pt modelId="{8224B020-9BAA-47BD-9B48-F528C21A57CA}" type="pres">
      <dgm:prSet presAssocID="{E8814C34-5445-4E61-A82D-18E37B576A2B}" presName="sibTrans" presStyleLbl="sibTrans1D1" presStyleIdx="0" presStyleCnt="7"/>
      <dgm:spPr/>
    </dgm:pt>
    <dgm:pt modelId="{89A019F1-DD5E-48E2-95CB-5D5E6B2F4562}" type="pres">
      <dgm:prSet presAssocID="{E8814C34-5445-4E61-A82D-18E37B576A2B}" presName="connectorText" presStyleLbl="sibTrans1D1" presStyleIdx="0" presStyleCnt="7"/>
      <dgm:spPr/>
    </dgm:pt>
    <dgm:pt modelId="{0331D266-EFC1-42C8-B7F0-4F2020EDFFC0}" type="pres">
      <dgm:prSet presAssocID="{10F4CA92-CB74-4D2F-BE29-0C8A5580EF26}" presName="node" presStyleLbl="node1" presStyleIdx="1" presStyleCnt="8">
        <dgm:presLayoutVars>
          <dgm:bulletEnabled val="1"/>
        </dgm:presLayoutVars>
      </dgm:prSet>
      <dgm:spPr/>
    </dgm:pt>
    <dgm:pt modelId="{FC84068B-C79F-45C9-AE10-56E8E8DF0AC6}" type="pres">
      <dgm:prSet presAssocID="{BD47CB3C-A739-40CC-A273-FFCB1DE1CD81}" presName="sibTrans" presStyleLbl="sibTrans1D1" presStyleIdx="1" presStyleCnt="7"/>
      <dgm:spPr/>
    </dgm:pt>
    <dgm:pt modelId="{19024F24-D9F8-435F-993A-73D2992F4044}" type="pres">
      <dgm:prSet presAssocID="{BD47CB3C-A739-40CC-A273-FFCB1DE1CD81}" presName="connectorText" presStyleLbl="sibTrans1D1" presStyleIdx="1" presStyleCnt="7"/>
      <dgm:spPr/>
    </dgm:pt>
    <dgm:pt modelId="{99850B24-A33D-4F37-A689-10DD4CD4DEBD}" type="pres">
      <dgm:prSet presAssocID="{781E6D5B-388F-4ECF-8787-D320E52E74B9}" presName="node" presStyleLbl="node1" presStyleIdx="2" presStyleCnt="8">
        <dgm:presLayoutVars>
          <dgm:bulletEnabled val="1"/>
        </dgm:presLayoutVars>
      </dgm:prSet>
      <dgm:spPr/>
    </dgm:pt>
    <dgm:pt modelId="{2A0F82B4-CB59-44C9-8E4F-60A0B9E0BBC8}" type="pres">
      <dgm:prSet presAssocID="{5F7B08BC-61DE-41E8-9AA3-B907D1B3B5BE}" presName="sibTrans" presStyleLbl="sibTrans1D1" presStyleIdx="2" presStyleCnt="7"/>
      <dgm:spPr/>
    </dgm:pt>
    <dgm:pt modelId="{02A0AF4B-EC7C-4FD7-9BA8-326680F2277D}" type="pres">
      <dgm:prSet presAssocID="{5F7B08BC-61DE-41E8-9AA3-B907D1B3B5BE}" presName="connectorText" presStyleLbl="sibTrans1D1" presStyleIdx="2" presStyleCnt="7"/>
      <dgm:spPr/>
    </dgm:pt>
    <dgm:pt modelId="{4DCC09B3-891B-4128-9E70-4F305DAFBE93}" type="pres">
      <dgm:prSet presAssocID="{C8B7512B-3D2F-4F9E-9116-8D77D85E0FAE}" presName="node" presStyleLbl="node1" presStyleIdx="3" presStyleCnt="8">
        <dgm:presLayoutVars>
          <dgm:bulletEnabled val="1"/>
        </dgm:presLayoutVars>
      </dgm:prSet>
      <dgm:spPr/>
    </dgm:pt>
    <dgm:pt modelId="{B442A067-5146-4E50-855C-B79F04DFFFDF}" type="pres">
      <dgm:prSet presAssocID="{0D5261D9-18C2-4D3A-8481-DA57903BC0CF}" presName="sibTrans" presStyleLbl="sibTrans1D1" presStyleIdx="3" presStyleCnt="7"/>
      <dgm:spPr/>
    </dgm:pt>
    <dgm:pt modelId="{0091709F-F7F8-4F12-AAEF-91945C71FA06}" type="pres">
      <dgm:prSet presAssocID="{0D5261D9-18C2-4D3A-8481-DA57903BC0CF}" presName="connectorText" presStyleLbl="sibTrans1D1" presStyleIdx="3" presStyleCnt="7"/>
      <dgm:spPr/>
    </dgm:pt>
    <dgm:pt modelId="{ABB3B558-BF71-4E20-8E91-440308110184}" type="pres">
      <dgm:prSet presAssocID="{4F1BE16C-2A20-486F-B4CB-EADAFD3898E0}" presName="node" presStyleLbl="node1" presStyleIdx="4" presStyleCnt="8">
        <dgm:presLayoutVars>
          <dgm:bulletEnabled val="1"/>
        </dgm:presLayoutVars>
      </dgm:prSet>
      <dgm:spPr/>
    </dgm:pt>
    <dgm:pt modelId="{B34F4E1F-356F-4A0E-A777-FE29BDE69DA6}" type="pres">
      <dgm:prSet presAssocID="{EC6F0831-0C95-450C-85A2-3698BA0B6EAF}" presName="sibTrans" presStyleLbl="sibTrans1D1" presStyleIdx="4" presStyleCnt="7"/>
      <dgm:spPr/>
    </dgm:pt>
    <dgm:pt modelId="{9A6968A4-47AE-4485-82AE-8299DEB8146D}" type="pres">
      <dgm:prSet presAssocID="{EC6F0831-0C95-450C-85A2-3698BA0B6EAF}" presName="connectorText" presStyleLbl="sibTrans1D1" presStyleIdx="4" presStyleCnt="7"/>
      <dgm:spPr/>
    </dgm:pt>
    <dgm:pt modelId="{B593A361-4D4B-48E7-9D54-4311B8735DEC}" type="pres">
      <dgm:prSet presAssocID="{BA2C7A29-18E4-4C28-84EC-2BDF19BC661A}" presName="node" presStyleLbl="node1" presStyleIdx="5" presStyleCnt="8">
        <dgm:presLayoutVars>
          <dgm:bulletEnabled val="1"/>
        </dgm:presLayoutVars>
      </dgm:prSet>
      <dgm:spPr/>
    </dgm:pt>
    <dgm:pt modelId="{96947C70-401F-4CCA-BDEC-52336AA8E719}" type="pres">
      <dgm:prSet presAssocID="{7CBFE88B-05F7-42A7-A907-84582AB7F3D5}" presName="sibTrans" presStyleLbl="sibTrans1D1" presStyleIdx="5" presStyleCnt="7"/>
      <dgm:spPr/>
    </dgm:pt>
    <dgm:pt modelId="{DEAD2E97-3A9E-4CDC-8B3A-6C3BE8619352}" type="pres">
      <dgm:prSet presAssocID="{7CBFE88B-05F7-42A7-A907-84582AB7F3D5}" presName="connectorText" presStyleLbl="sibTrans1D1" presStyleIdx="5" presStyleCnt="7"/>
      <dgm:spPr/>
    </dgm:pt>
    <dgm:pt modelId="{B0400C46-52F1-4FC9-B760-A6CA9A2BC370}" type="pres">
      <dgm:prSet presAssocID="{01CA9BE8-8A6D-40D6-8B39-9E7A67E7E68F}" presName="node" presStyleLbl="node1" presStyleIdx="6" presStyleCnt="8">
        <dgm:presLayoutVars>
          <dgm:bulletEnabled val="1"/>
        </dgm:presLayoutVars>
      </dgm:prSet>
      <dgm:spPr/>
    </dgm:pt>
    <dgm:pt modelId="{CB5B1775-D0AE-467B-9529-8D5A01F8E77D}" type="pres">
      <dgm:prSet presAssocID="{D898D218-25D9-4285-9C5F-15129520C1BA}" presName="sibTrans" presStyleLbl="sibTrans1D1" presStyleIdx="6" presStyleCnt="7"/>
      <dgm:spPr/>
    </dgm:pt>
    <dgm:pt modelId="{9D658B6B-4067-4058-BE1C-20EF7A5E5402}" type="pres">
      <dgm:prSet presAssocID="{D898D218-25D9-4285-9C5F-15129520C1BA}" presName="connectorText" presStyleLbl="sibTrans1D1" presStyleIdx="6" presStyleCnt="7"/>
      <dgm:spPr/>
    </dgm:pt>
    <dgm:pt modelId="{7A041656-60C3-4B5A-ADAF-A01216DE3DA7}" type="pres">
      <dgm:prSet presAssocID="{0F4EDBA0-75D8-4E91-BD19-6AFF4893A28F}" presName="node" presStyleLbl="node1" presStyleIdx="7" presStyleCnt="8">
        <dgm:presLayoutVars>
          <dgm:bulletEnabled val="1"/>
        </dgm:presLayoutVars>
      </dgm:prSet>
      <dgm:spPr/>
    </dgm:pt>
  </dgm:ptLst>
  <dgm:cxnLst>
    <dgm:cxn modelId="{6A9C5D08-A24C-438E-B339-242897B621FE}" type="presOf" srcId="{D898D218-25D9-4285-9C5F-15129520C1BA}" destId="{9D658B6B-4067-4058-BE1C-20EF7A5E5402}" srcOrd="1" destOrd="0" presId="urn:microsoft.com/office/officeart/2016/7/layout/RepeatingBendingProcessNew"/>
    <dgm:cxn modelId="{D5ECB426-7F71-4789-AA90-B60AD7E6B1C2}" type="presOf" srcId="{EC6F0831-0C95-450C-85A2-3698BA0B6EAF}" destId="{9A6968A4-47AE-4485-82AE-8299DEB8146D}" srcOrd="1" destOrd="0" presId="urn:microsoft.com/office/officeart/2016/7/layout/RepeatingBendingProcessNew"/>
    <dgm:cxn modelId="{B600102A-EB10-4C13-B8CB-D55A295FE608}" type="presOf" srcId="{781E6D5B-388F-4ECF-8787-D320E52E74B9}" destId="{99850B24-A33D-4F37-A689-10DD4CD4DEBD}" srcOrd="0" destOrd="0" presId="urn:microsoft.com/office/officeart/2016/7/layout/RepeatingBendingProcessNew"/>
    <dgm:cxn modelId="{0AB0EF33-768D-42F3-8A47-85164ED4CF49}" type="presOf" srcId="{10F4CA92-CB74-4D2F-BE29-0C8A5580EF26}" destId="{0331D266-EFC1-42C8-B7F0-4F2020EDFFC0}" srcOrd="0" destOrd="0" presId="urn:microsoft.com/office/officeart/2016/7/layout/RepeatingBendingProcessNew"/>
    <dgm:cxn modelId="{B4439338-F7B7-4E73-8708-F08176864FFC}" type="presOf" srcId="{BA2C7A29-18E4-4C28-84EC-2BDF19BC661A}" destId="{B593A361-4D4B-48E7-9D54-4311B8735DEC}" srcOrd="0" destOrd="0" presId="urn:microsoft.com/office/officeart/2016/7/layout/RepeatingBendingProcessNew"/>
    <dgm:cxn modelId="{BB3F0644-3455-4F15-9E2E-CD98DD5DF5B2}" type="presOf" srcId="{7CBFE88B-05F7-42A7-A907-84582AB7F3D5}" destId="{DEAD2E97-3A9E-4CDC-8B3A-6C3BE8619352}" srcOrd="1" destOrd="0" presId="urn:microsoft.com/office/officeart/2016/7/layout/RepeatingBendingProcessNew"/>
    <dgm:cxn modelId="{BC732E4B-88E6-4B73-8CF1-7AC1BC615C59}" type="presOf" srcId="{8D43E6BE-1770-42E4-A920-54FCDD7222F3}" destId="{29532D8A-6DCD-4F4C-840C-A70F83763FC9}" srcOrd="0" destOrd="0" presId="urn:microsoft.com/office/officeart/2016/7/layout/RepeatingBendingProcessNew"/>
    <dgm:cxn modelId="{6643176C-5ADF-4021-A74C-76BEA8AC0A05}" srcId="{8D43E6BE-1770-42E4-A920-54FCDD7222F3}" destId="{4F1BE16C-2A20-486F-B4CB-EADAFD3898E0}" srcOrd="4" destOrd="0" parTransId="{74C0F3C9-FA16-467E-8F91-0D66651CE5A1}" sibTransId="{EC6F0831-0C95-450C-85A2-3698BA0B6EAF}"/>
    <dgm:cxn modelId="{C1CA4C56-A116-4400-B478-4866E7B13D9B}" srcId="{8D43E6BE-1770-42E4-A920-54FCDD7222F3}" destId="{10F4CA92-CB74-4D2F-BE29-0C8A5580EF26}" srcOrd="1" destOrd="0" parTransId="{A44C6C3F-0BB1-4F53-9E9C-2D83AE30F54A}" sibTransId="{BD47CB3C-A739-40CC-A273-FFCB1DE1CD81}"/>
    <dgm:cxn modelId="{5386D477-FDE4-4CCD-8AE4-0C945B0D1AE4}" type="presOf" srcId="{4F1BE16C-2A20-486F-B4CB-EADAFD3898E0}" destId="{ABB3B558-BF71-4E20-8E91-440308110184}" srcOrd="0" destOrd="0" presId="urn:microsoft.com/office/officeart/2016/7/layout/RepeatingBendingProcessNew"/>
    <dgm:cxn modelId="{D4656B7A-558F-4568-B699-1BA0D3B9F62B}" srcId="{8D43E6BE-1770-42E4-A920-54FCDD7222F3}" destId="{01CA9BE8-8A6D-40D6-8B39-9E7A67E7E68F}" srcOrd="6" destOrd="0" parTransId="{2B91432E-9EE9-45F6-BB94-C9EF54AF825E}" sibTransId="{D898D218-25D9-4285-9C5F-15129520C1BA}"/>
    <dgm:cxn modelId="{E65BEE7A-7086-4C67-BD0C-893577EA1627}" type="presOf" srcId="{5F7B08BC-61DE-41E8-9AA3-B907D1B3B5BE}" destId="{02A0AF4B-EC7C-4FD7-9BA8-326680F2277D}" srcOrd="1" destOrd="0" presId="urn:microsoft.com/office/officeart/2016/7/layout/RepeatingBendingProcessNew"/>
    <dgm:cxn modelId="{FDC79E7B-ACD8-49F9-A20C-C68C3373C485}" type="presOf" srcId="{0D5261D9-18C2-4D3A-8481-DA57903BC0CF}" destId="{B442A067-5146-4E50-855C-B79F04DFFFDF}" srcOrd="0" destOrd="0" presId="urn:microsoft.com/office/officeart/2016/7/layout/RepeatingBendingProcessNew"/>
    <dgm:cxn modelId="{1F46FA80-1E4A-4797-AA20-9E16026E60B8}" type="presOf" srcId="{BD47CB3C-A739-40CC-A273-FFCB1DE1CD81}" destId="{FC84068B-C79F-45C9-AE10-56E8E8DF0AC6}" srcOrd="0" destOrd="0" presId="urn:microsoft.com/office/officeart/2016/7/layout/RepeatingBendingProcessNew"/>
    <dgm:cxn modelId="{2A51DB87-DEAB-45ED-A7F4-672735FE328A}" type="presOf" srcId="{76CD3CEC-7623-487E-B9B6-8493E225535E}" destId="{88C2175F-7CDD-41B4-BCF2-87536DD8E570}" srcOrd="0" destOrd="0" presId="urn:microsoft.com/office/officeart/2016/7/layout/RepeatingBendingProcessNew"/>
    <dgm:cxn modelId="{0CF34E8A-2DD7-4AA6-87F1-430E9B7E7CDE}" srcId="{8D43E6BE-1770-42E4-A920-54FCDD7222F3}" destId="{76CD3CEC-7623-487E-B9B6-8493E225535E}" srcOrd="0" destOrd="0" parTransId="{ED7903D5-A22C-4B64-BFAB-F16DDD68EE00}" sibTransId="{E8814C34-5445-4E61-A82D-18E37B576A2B}"/>
    <dgm:cxn modelId="{A3AF528D-8190-4CAF-B0B4-18A02193444D}" type="presOf" srcId="{0F4EDBA0-75D8-4E91-BD19-6AFF4893A28F}" destId="{7A041656-60C3-4B5A-ADAF-A01216DE3DA7}" srcOrd="0" destOrd="0" presId="urn:microsoft.com/office/officeart/2016/7/layout/RepeatingBendingProcessNew"/>
    <dgm:cxn modelId="{CA611A94-57C9-4786-BDCD-9DD726DE9BF5}" type="presOf" srcId="{E8814C34-5445-4E61-A82D-18E37B576A2B}" destId="{89A019F1-DD5E-48E2-95CB-5D5E6B2F4562}" srcOrd="1" destOrd="0" presId="urn:microsoft.com/office/officeart/2016/7/layout/RepeatingBendingProcessNew"/>
    <dgm:cxn modelId="{CD448AA5-EA7B-4D53-BE8A-8DE6531B3E16}" type="presOf" srcId="{EC6F0831-0C95-450C-85A2-3698BA0B6EAF}" destId="{B34F4E1F-356F-4A0E-A777-FE29BDE69DA6}" srcOrd="0" destOrd="0" presId="urn:microsoft.com/office/officeart/2016/7/layout/RepeatingBendingProcessNew"/>
    <dgm:cxn modelId="{AA884FAB-E593-4098-90DB-ADD716F2E3FA}" srcId="{8D43E6BE-1770-42E4-A920-54FCDD7222F3}" destId="{BA2C7A29-18E4-4C28-84EC-2BDF19BC661A}" srcOrd="5" destOrd="0" parTransId="{9D58E8FF-38B9-4206-A818-F0D06CB35F36}" sibTransId="{7CBFE88B-05F7-42A7-A907-84582AB7F3D5}"/>
    <dgm:cxn modelId="{A2DBDAB6-5D50-45AA-BE47-65924D1D389D}" type="presOf" srcId="{7CBFE88B-05F7-42A7-A907-84582AB7F3D5}" destId="{96947C70-401F-4CCA-BDEC-52336AA8E719}" srcOrd="0" destOrd="0" presId="urn:microsoft.com/office/officeart/2016/7/layout/RepeatingBendingProcessNew"/>
    <dgm:cxn modelId="{2BCB9DB7-18D8-4A24-AE2A-8E10E3E90323}" type="presOf" srcId="{C8B7512B-3D2F-4F9E-9116-8D77D85E0FAE}" destId="{4DCC09B3-891B-4128-9E70-4F305DAFBE93}" srcOrd="0" destOrd="0" presId="urn:microsoft.com/office/officeart/2016/7/layout/RepeatingBendingProcessNew"/>
    <dgm:cxn modelId="{C595F9BB-7A72-488D-990B-4350C67A556A}" type="presOf" srcId="{E8814C34-5445-4E61-A82D-18E37B576A2B}" destId="{8224B020-9BAA-47BD-9B48-F528C21A57CA}" srcOrd="0" destOrd="0" presId="urn:microsoft.com/office/officeart/2016/7/layout/RepeatingBendingProcessNew"/>
    <dgm:cxn modelId="{E2FE88CC-E0AC-4D29-8566-17BB33415CFE}" srcId="{8D43E6BE-1770-42E4-A920-54FCDD7222F3}" destId="{C8B7512B-3D2F-4F9E-9116-8D77D85E0FAE}" srcOrd="3" destOrd="0" parTransId="{64923370-460F-48B5-908D-94DE4387E272}" sibTransId="{0D5261D9-18C2-4D3A-8481-DA57903BC0CF}"/>
    <dgm:cxn modelId="{73269FDA-4D74-497A-B69B-C2B93B724FC4}" type="presOf" srcId="{5F7B08BC-61DE-41E8-9AA3-B907D1B3B5BE}" destId="{2A0F82B4-CB59-44C9-8E4F-60A0B9E0BBC8}" srcOrd="0" destOrd="0" presId="urn:microsoft.com/office/officeart/2016/7/layout/RepeatingBendingProcessNew"/>
    <dgm:cxn modelId="{6F5975DF-9537-46BB-89A8-E9984D1A9524}" type="presOf" srcId="{0D5261D9-18C2-4D3A-8481-DA57903BC0CF}" destId="{0091709F-F7F8-4F12-AAEF-91945C71FA06}" srcOrd="1" destOrd="0" presId="urn:microsoft.com/office/officeart/2016/7/layout/RepeatingBendingProcessNew"/>
    <dgm:cxn modelId="{E386F1E7-842A-4A3E-B01C-152A2958FE5B}" type="presOf" srcId="{BD47CB3C-A739-40CC-A273-FFCB1DE1CD81}" destId="{19024F24-D9F8-435F-993A-73D2992F4044}" srcOrd="1" destOrd="0" presId="urn:microsoft.com/office/officeart/2016/7/layout/RepeatingBendingProcessNew"/>
    <dgm:cxn modelId="{12B1E7E8-D94F-45D8-AB2A-A7BDB0B331E4}" type="presOf" srcId="{D898D218-25D9-4285-9C5F-15129520C1BA}" destId="{CB5B1775-D0AE-467B-9529-8D5A01F8E77D}" srcOrd="0" destOrd="0" presId="urn:microsoft.com/office/officeart/2016/7/layout/RepeatingBendingProcessNew"/>
    <dgm:cxn modelId="{C0561BF2-0DCD-4650-8FBC-39E584651D19}" type="presOf" srcId="{01CA9BE8-8A6D-40D6-8B39-9E7A67E7E68F}" destId="{B0400C46-52F1-4FC9-B760-A6CA9A2BC370}" srcOrd="0" destOrd="0" presId="urn:microsoft.com/office/officeart/2016/7/layout/RepeatingBendingProcessNew"/>
    <dgm:cxn modelId="{E4C004F7-A3A0-4B76-9733-C328998F7C77}" srcId="{8D43E6BE-1770-42E4-A920-54FCDD7222F3}" destId="{781E6D5B-388F-4ECF-8787-D320E52E74B9}" srcOrd="2" destOrd="0" parTransId="{9E61D281-7698-408D-A611-172E076EB0E5}" sibTransId="{5F7B08BC-61DE-41E8-9AA3-B907D1B3B5BE}"/>
    <dgm:cxn modelId="{6BB39CF7-572C-4E2D-B523-822EC8D5C9B3}" srcId="{8D43E6BE-1770-42E4-A920-54FCDD7222F3}" destId="{0F4EDBA0-75D8-4E91-BD19-6AFF4893A28F}" srcOrd="7" destOrd="0" parTransId="{D58E319F-93C2-4018-BE8B-0D5ED2B45C7F}" sibTransId="{61F68F28-01BA-40FE-87EF-1909B208861E}"/>
    <dgm:cxn modelId="{95E36522-06F3-436A-8170-8759C24458AB}" type="presParOf" srcId="{29532D8A-6DCD-4F4C-840C-A70F83763FC9}" destId="{88C2175F-7CDD-41B4-BCF2-87536DD8E570}" srcOrd="0" destOrd="0" presId="urn:microsoft.com/office/officeart/2016/7/layout/RepeatingBendingProcessNew"/>
    <dgm:cxn modelId="{2E5880B4-2F88-4B48-905F-4DCC3131F0A7}" type="presParOf" srcId="{29532D8A-6DCD-4F4C-840C-A70F83763FC9}" destId="{8224B020-9BAA-47BD-9B48-F528C21A57CA}" srcOrd="1" destOrd="0" presId="urn:microsoft.com/office/officeart/2016/7/layout/RepeatingBendingProcessNew"/>
    <dgm:cxn modelId="{A99D5009-9972-4F90-B510-C0764883B28B}" type="presParOf" srcId="{8224B020-9BAA-47BD-9B48-F528C21A57CA}" destId="{89A019F1-DD5E-48E2-95CB-5D5E6B2F4562}" srcOrd="0" destOrd="0" presId="urn:microsoft.com/office/officeart/2016/7/layout/RepeatingBendingProcessNew"/>
    <dgm:cxn modelId="{E4830B78-F658-476B-9BC0-DC50FF44B302}" type="presParOf" srcId="{29532D8A-6DCD-4F4C-840C-A70F83763FC9}" destId="{0331D266-EFC1-42C8-B7F0-4F2020EDFFC0}" srcOrd="2" destOrd="0" presId="urn:microsoft.com/office/officeart/2016/7/layout/RepeatingBendingProcessNew"/>
    <dgm:cxn modelId="{B125FECD-7FB8-4741-84E6-44123813D1E0}" type="presParOf" srcId="{29532D8A-6DCD-4F4C-840C-A70F83763FC9}" destId="{FC84068B-C79F-45C9-AE10-56E8E8DF0AC6}" srcOrd="3" destOrd="0" presId="urn:microsoft.com/office/officeart/2016/7/layout/RepeatingBendingProcessNew"/>
    <dgm:cxn modelId="{8DBFDFCA-7CC6-4485-87D0-8A4F18E920CC}" type="presParOf" srcId="{FC84068B-C79F-45C9-AE10-56E8E8DF0AC6}" destId="{19024F24-D9F8-435F-993A-73D2992F4044}" srcOrd="0" destOrd="0" presId="urn:microsoft.com/office/officeart/2016/7/layout/RepeatingBendingProcessNew"/>
    <dgm:cxn modelId="{00B49ACF-C2FF-46F6-B4CB-547C01DA4BCC}" type="presParOf" srcId="{29532D8A-6DCD-4F4C-840C-A70F83763FC9}" destId="{99850B24-A33D-4F37-A689-10DD4CD4DEBD}" srcOrd="4" destOrd="0" presId="urn:microsoft.com/office/officeart/2016/7/layout/RepeatingBendingProcessNew"/>
    <dgm:cxn modelId="{658E8745-FB72-4575-B07D-0A57D4997FE4}" type="presParOf" srcId="{29532D8A-6DCD-4F4C-840C-A70F83763FC9}" destId="{2A0F82B4-CB59-44C9-8E4F-60A0B9E0BBC8}" srcOrd="5" destOrd="0" presId="urn:microsoft.com/office/officeart/2016/7/layout/RepeatingBendingProcessNew"/>
    <dgm:cxn modelId="{B775DE8B-98A3-4C21-9191-8C5038D4140E}" type="presParOf" srcId="{2A0F82B4-CB59-44C9-8E4F-60A0B9E0BBC8}" destId="{02A0AF4B-EC7C-4FD7-9BA8-326680F2277D}" srcOrd="0" destOrd="0" presId="urn:microsoft.com/office/officeart/2016/7/layout/RepeatingBendingProcessNew"/>
    <dgm:cxn modelId="{0B94A149-B242-4691-AC5B-A750D3D2AA3A}" type="presParOf" srcId="{29532D8A-6DCD-4F4C-840C-A70F83763FC9}" destId="{4DCC09B3-891B-4128-9E70-4F305DAFBE93}" srcOrd="6" destOrd="0" presId="urn:microsoft.com/office/officeart/2016/7/layout/RepeatingBendingProcessNew"/>
    <dgm:cxn modelId="{B45AFB5A-A49A-4A4C-ABDE-377E7997986E}" type="presParOf" srcId="{29532D8A-6DCD-4F4C-840C-A70F83763FC9}" destId="{B442A067-5146-4E50-855C-B79F04DFFFDF}" srcOrd="7" destOrd="0" presId="urn:microsoft.com/office/officeart/2016/7/layout/RepeatingBendingProcessNew"/>
    <dgm:cxn modelId="{DF3BD51A-DF18-45FF-91DF-426697B0B597}" type="presParOf" srcId="{B442A067-5146-4E50-855C-B79F04DFFFDF}" destId="{0091709F-F7F8-4F12-AAEF-91945C71FA06}" srcOrd="0" destOrd="0" presId="urn:microsoft.com/office/officeart/2016/7/layout/RepeatingBendingProcessNew"/>
    <dgm:cxn modelId="{BB869A74-7D62-4A54-A728-42226484C03F}" type="presParOf" srcId="{29532D8A-6DCD-4F4C-840C-A70F83763FC9}" destId="{ABB3B558-BF71-4E20-8E91-440308110184}" srcOrd="8" destOrd="0" presId="urn:microsoft.com/office/officeart/2016/7/layout/RepeatingBendingProcessNew"/>
    <dgm:cxn modelId="{27E3CD22-0AB0-4263-9E52-10F551D27D8F}" type="presParOf" srcId="{29532D8A-6DCD-4F4C-840C-A70F83763FC9}" destId="{B34F4E1F-356F-4A0E-A777-FE29BDE69DA6}" srcOrd="9" destOrd="0" presId="urn:microsoft.com/office/officeart/2016/7/layout/RepeatingBendingProcessNew"/>
    <dgm:cxn modelId="{FBA914E2-0D1A-47BB-B83F-2D6C3C6ADE3B}" type="presParOf" srcId="{B34F4E1F-356F-4A0E-A777-FE29BDE69DA6}" destId="{9A6968A4-47AE-4485-82AE-8299DEB8146D}" srcOrd="0" destOrd="0" presId="urn:microsoft.com/office/officeart/2016/7/layout/RepeatingBendingProcessNew"/>
    <dgm:cxn modelId="{C19B380D-A629-4829-BF54-E3143B81F962}" type="presParOf" srcId="{29532D8A-6DCD-4F4C-840C-A70F83763FC9}" destId="{B593A361-4D4B-48E7-9D54-4311B8735DEC}" srcOrd="10" destOrd="0" presId="urn:microsoft.com/office/officeart/2016/7/layout/RepeatingBendingProcessNew"/>
    <dgm:cxn modelId="{47089534-BB98-483C-90B3-B957567ED78D}" type="presParOf" srcId="{29532D8A-6DCD-4F4C-840C-A70F83763FC9}" destId="{96947C70-401F-4CCA-BDEC-52336AA8E719}" srcOrd="11" destOrd="0" presId="urn:microsoft.com/office/officeart/2016/7/layout/RepeatingBendingProcessNew"/>
    <dgm:cxn modelId="{0C75B3A3-07CD-4850-80D8-7CFFF581BFEE}" type="presParOf" srcId="{96947C70-401F-4CCA-BDEC-52336AA8E719}" destId="{DEAD2E97-3A9E-4CDC-8B3A-6C3BE8619352}" srcOrd="0" destOrd="0" presId="urn:microsoft.com/office/officeart/2016/7/layout/RepeatingBendingProcessNew"/>
    <dgm:cxn modelId="{9CE4BB12-4713-4101-8EB7-1306678D8792}" type="presParOf" srcId="{29532D8A-6DCD-4F4C-840C-A70F83763FC9}" destId="{B0400C46-52F1-4FC9-B760-A6CA9A2BC370}" srcOrd="12" destOrd="0" presId="urn:microsoft.com/office/officeart/2016/7/layout/RepeatingBendingProcessNew"/>
    <dgm:cxn modelId="{ABBC6731-2E08-4D9E-AB67-DE48E4EA19E2}" type="presParOf" srcId="{29532D8A-6DCD-4F4C-840C-A70F83763FC9}" destId="{CB5B1775-D0AE-467B-9529-8D5A01F8E77D}" srcOrd="13" destOrd="0" presId="urn:microsoft.com/office/officeart/2016/7/layout/RepeatingBendingProcessNew"/>
    <dgm:cxn modelId="{76BF6655-8370-4706-B8AA-D39A809B6CB7}" type="presParOf" srcId="{CB5B1775-D0AE-467B-9529-8D5A01F8E77D}" destId="{9D658B6B-4067-4058-BE1C-20EF7A5E5402}" srcOrd="0" destOrd="0" presId="urn:microsoft.com/office/officeart/2016/7/layout/RepeatingBendingProcessNew"/>
    <dgm:cxn modelId="{948314DF-A40D-4DC4-95C4-BEC86EEDD81C}" type="presParOf" srcId="{29532D8A-6DCD-4F4C-840C-A70F83763FC9}" destId="{7A041656-60C3-4B5A-ADAF-A01216DE3DA7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070772-975F-4D1C-AC60-56F93D4868D8}">
      <dsp:nvSpPr>
        <dsp:cNvPr id="0" name=""/>
        <dsp:cNvSpPr/>
      </dsp:nvSpPr>
      <dsp:spPr>
        <a:xfrm>
          <a:off x="135146" y="648748"/>
          <a:ext cx="903413" cy="9034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A87CD-F5C6-4E48-A515-7F9244704A31}">
      <dsp:nvSpPr>
        <dsp:cNvPr id="0" name=""/>
        <dsp:cNvSpPr/>
      </dsp:nvSpPr>
      <dsp:spPr>
        <a:xfrm>
          <a:off x="324863" y="838465"/>
          <a:ext cx="523979" cy="5239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CED221-30B2-4E3C-904B-EBA3C3EA7795}">
      <dsp:nvSpPr>
        <dsp:cNvPr id="0" name=""/>
        <dsp:cNvSpPr/>
      </dsp:nvSpPr>
      <dsp:spPr>
        <a:xfrm>
          <a:off x="1232148" y="648748"/>
          <a:ext cx="2129474" cy="903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Develop an end-to-end pipeline to read and preprocess teacher and student answers </a:t>
          </a:r>
        </a:p>
      </dsp:txBody>
      <dsp:txXfrm>
        <a:off x="1232148" y="648748"/>
        <a:ext cx="2129474" cy="903413"/>
      </dsp:txXfrm>
    </dsp:sp>
    <dsp:sp modelId="{B97B1171-E45F-4A89-8521-79A106FD4AA2}">
      <dsp:nvSpPr>
        <dsp:cNvPr id="0" name=""/>
        <dsp:cNvSpPr/>
      </dsp:nvSpPr>
      <dsp:spPr>
        <a:xfrm>
          <a:off x="3732667" y="648748"/>
          <a:ext cx="903413" cy="9034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661D5C-2BA9-46D8-A24D-00E45B756E90}">
      <dsp:nvSpPr>
        <dsp:cNvPr id="0" name=""/>
        <dsp:cNvSpPr/>
      </dsp:nvSpPr>
      <dsp:spPr>
        <a:xfrm>
          <a:off x="3922384" y="838465"/>
          <a:ext cx="523979" cy="5239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1F6F3-D078-4C4C-A614-14F4E9D47E1E}">
      <dsp:nvSpPr>
        <dsp:cNvPr id="0" name=""/>
        <dsp:cNvSpPr/>
      </dsp:nvSpPr>
      <dsp:spPr>
        <a:xfrm>
          <a:off x="4829669" y="648748"/>
          <a:ext cx="2129474" cy="903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Implement and compare multiple models</a:t>
          </a:r>
        </a:p>
      </dsp:txBody>
      <dsp:txXfrm>
        <a:off x="4829669" y="648748"/>
        <a:ext cx="2129474" cy="903413"/>
      </dsp:txXfrm>
    </dsp:sp>
    <dsp:sp modelId="{1E47B8DC-0B46-491A-B3D9-79C1A8CD1E1A}">
      <dsp:nvSpPr>
        <dsp:cNvPr id="0" name=""/>
        <dsp:cNvSpPr/>
      </dsp:nvSpPr>
      <dsp:spPr>
        <a:xfrm>
          <a:off x="7330189" y="648748"/>
          <a:ext cx="903413" cy="9034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EB2324-6E2A-4CD1-AD17-1ADFE76B9B01}">
      <dsp:nvSpPr>
        <dsp:cNvPr id="0" name=""/>
        <dsp:cNvSpPr/>
      </dsp:nvSpPr>
      <dsp:spPr>
        <a:xfrm>
          <a:off x="7519905" y="838465"/>
          <a:ext cx="523979" cy="5239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5FB0B0-F1D6-4B82-BD63-3CB77811FD47}">
      <dsp:nvSpPr>
        <dsp:cNvPr id="0" name=""/>
        <dsp:cNvSpPr/>
      </dsp:nvSpPr>
      <dsp:spPr>
        <a:xfrm>
          <a:off x="8427191" y="648748"/>
          <a:ext cx="2129474" cy="903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Baseline: TF-IDF + Regression</a:t>
          </a:r>
        </a:p>
      </dsp:txBody>
      <dsp:txXfrm>
        <a:off x="8427191" y="648748"/>
        <a:ext cx="2129474" cy="903413"/>
      </dsp:txXfrm>
    </dsp:sp>
    <dsp:sp modelId="{3D059505-841A-4BDD-B036-96A4B8873D1B}">
      <dsp:nvSpPr>
        <dsp:cNvPr id="0" name=""/>
        <dsp:cNvSpPr/>
      </dsp:nvSpPr>
      <dsp:spPr>
        <a:xfrm>
          <a:off x="135146" y="2187987"/>
          <a:ext cx="903413" cy="9034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A2A435-715D-4807-BA81-45C6B6470170}">
      <dsp:nvSpPr>
        <dsp:cNvPr id="0" name=""/>
        <dsp:cNvSpPr/>
      </dsp:nvSpPr>
      <dsp:spPr>
        <a:xfrm>
          <a:off x="324863" y="2377704"/>
          <a:ext cx="523979" cy="5239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368FD-FF77-4F44-A083-9C4F4693AA09}">
      <dsp:nvSpPr>
        <dsp:cNvPr id="0" name=""/>
        <dsp:cNvSpPr/>
      </dsp:nvSpPr>
      <dsp:spPr>
        <a:xfrm>
          <a:off x="1232148" y="2187987"/>
          <a:ext cx="2129474" cy="903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Advanced: BERT / Cross-Encoder</a:t>
          </a:r>
        </a:p>
      </dsp:txBody>
      <dsp:txXfrm>
        <a:off x="1232148" y="2187987"/>
        <a:ext cx="2129474" cy="903413"/>
      </dsp:txXfrm>
    </dsp:sp>
    <dsp:sp modelId="{FBDC538F-BA45-4CAD-8CA9-3DF46509AC92}">
      <dsp:nvSpPr>
        <dsp:cNvPr id="0" name=""/>
        <dsp:cNvSpPr/>
      </dsp:nvSpPr>
      <dsp:spPr>
        <a:xfrm>
          <a:off x="3732667" y="2187987"/>
          <a:ext cx="903413" cy="9034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F08DC-1F9F-4216-8CE4-4E6FC4B36408}">
      <dsp:nvSpPr>
        <dsp:cNvPr id="0" name=""/>
        <dsp:cNvSpPr/>
      </dsp:nvSpPr>
      <dsp:spPr>
        <a:xfrm>
          <a:off x="3922384" y="2377704"/>
          <a:ext cx="523979" cy="52397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E1DB9-0198-41C3-B946-5CBB41EF97FB}">
      <dsp:nvSpPr>
        <dsp:cNvPr id="0" name=""/>
        <dsp:cNvSpPr/>
      </dsp:nvSpPr>
      <dsp:spPr>
        <a:xfrm>
          <a:off x="4829669" y="2187987"/>
          <a:ext cx="2129474" cy="903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Evaluate model accuracy using metrics like QWK and MSE</a:t>
          </a:r>
        </a:p>
      </dsp:txBody>
      <dsp:txXfrm>
        <a:off x="4829669" y="2187987"/>
        <a:ext cx="2129474" cy="903413"/>
      </dsp:txXfrm>
    </dsp:sp>
    <dsp:sp modelId="{625A5BD1-7BCE-4301-B308-1AAB7480D841}">
      <dsp:nvSpPr>
        <dsp:cNvPr id="0" name=""/>
        <dsp:cNvSpPr/>
      </dsp:nvSpPr>
      <dsp:spPr>
        <a:xfrm>
          <a:off x="7330189" y="2187987"/>
          <a:ext cx="903413" cy="9034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234BE0-B2EA-4EBC-BABD-506A3E6669EB}">
      <dsp:nvSpPr>
        <dsp:cNvPr id="0" name=""/>
        <dsp:cNvSpPr/>
      </dsp:nvSpPr>
      <dsp:spPr>
        <a:xfrm>
          <a:off x="7519905" y="2377704"/>
          <a:ext cx="523979" cy="52397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4AE64-D29B-4ED8-8C48-9D15B4344133}">
      <dsp:nvSpPr>
        <dsp:cNvPr id="0" name=""/>
        <dsp:cNvSpPr/>
      </dsp:nvSpPr>
      <dsp:spPr>
        <a:xfrm>
          <a:off x="8427191" y="2187987"/>
          <a:ext cx="2129474" cy="903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Produce final graded outputs and ensure the system is scalable, interpretable, and ready for deployment.</a:t>
          </a:r>
        </a:p>
      </dsp:txBody>
      <dsp:txXfrm>
        <a:off x="8427191" y="2187987"/>
        <a:ext cx="2129474" cy="9034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1FF3E8-A3FB-47A4-9993-8C79EAE2C08B}">
      <dsp:nvSpPr>
        <dsp:cNvPr id="0" name=""/>
        <dsp:cNvSpPr/>
      </dsp:nvSpPr>
      <dsp:spPr>
        <a:xfrm>
          <a:off x="3444742" y="672826"/>
          <a:ext cx="5185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851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90272" y="715801"/>
        <a:ext cx="27455" cy="5491"/>
      </dsp:txXfrm>
    </dsp:sp>
    <dsp:sp modelId="{B5FE7EC0-B1D0-4B87-804D-5F2836776196}">
      <dsp:nvSpPr>
        <dsp:cNvPr id="0" name=""/>
        <dsp:cNvSpPr/>
      </dsp:nvSpPr>
      <dsp:spPr>
        <a:xfrm>
          <a:off x="1059078" y="2307"/>
          <a:ext cx="2387463" cy="143247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988" tIns="122799" rIns="116988" bIns="12279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Raw datasets → Load &amp; Extract key columns.</a:t>
          </a:r>
          <a:endParaRPr lang="en-US" sz="1600" kern="1200"/>
        </a:p>
      </dsp:txBody>
      <dsp:txXfrm>
        <a:off x="1059078" y="2307"/>
        <a:ext cx="2387463" cy="1432478"/>
      </dsp:txXfrm>
    </dsp:sp>
    <dsp:sp modelId="{1309CDD1-0B88-4A15-B9EC-1066A4BFBD48}">
      <dsp:nvSpPr>
        <dsp:cNvPr id="0" name=""/>
        <dsp:cNvSpPr/>
      </dsp:nvSpPr>
      <dsp:spPr>
        <a:xfrm>
          <a:off x="2252810" y="1432986"/>
          <a:ext cx="2936580" cy="518516"/>
        </a:xfrm>
        <a:custGeom>
          <a:avLst/>
          <a:gdLst/>
          <a:ahLst/>
          <a:cxnLst/>
          <a:rect l="0" t="0" r="0" b="0"/>
          <a:pathLst>
            <a:path>
              <a:moveTo>
                <a:pt x="2936580" y="0"/>
              </a:moveTo>
              <a:lnTo>
                <a:pt x="2936580" y="276358"/>
              </a:lnTo>
              <a:lnTo>
                <a:pt x="0" y="276358"/>
              </a:lnTo>
              <a:lnTo>
                <a:pt x="0" y="518516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46413" y="1689498"/>
        <a:ext cx="149373" cy="5491"/>
      </dsp:txXfrm>
    </dsp:sp>
    <dsp:sp modelId="{88222BA9-F276-4DD4-A580-AD01F1E45B89}">
      <dsp:nvSpPr>
        <dsp:cNvPr id="0" name=""/>
        <dsp:cNvSpPr/>
      </dsp:nvSpPr>
      <dsp:spPr>
        <a:xfrm>
          <a:off x="3995658" y="2307"/>
          <a:ext cx="2387463" cy="143247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988" tIns="122799" rIns="116988" bIns="12279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Preprocess text (cleaning, tokenization).</a:t>
          </a:r>
          <a:endParaRPr lang="en-US" sz="1600" kern="1200"/>
        </a:p>
      </dsp:txBody>
      <dsp:txXfrm>
        <a:off x="3995658" y="2307"/>
        <a:ext cx="2387463" cy="1432478"/>
      </dsp:txXfrm>
    </dsp:sp>
    <dsp:sp modelId="{DC706729-5037-4469-ADC7-FCA2CF9AC66C}">
      <dsp:nvSpPr>
        <dsp:cNvPr id="0" name=""/>
        <dsp:cNvSpPr/>
      </dsp:nvSpPr>
      <dsp:spPr>
        <a:xfrm>
          <a:off x="3444742" y="2654422"/>
          <a:ext cx="5185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8516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90272" y="2697396"/>
        <a:ext cx="27455" cy="5491"/>
      </dsp:txXfrm>
    </dsp:sp>
    <dsp:sp modelId="{55E723E1-1D59-443E-AEF1-4B732F91E8FC}">
      <dsp:nvSpPr>
        <dsp:cNvPr id="0" name=""/>
        <dsp:cNvSpPr/>
      </dsp:nvSpPr>
      <dsp:spPr>
        <a:xfrm>
          <a:off x="1059078" y="1983902"/>
          <a:ext cx="2387463" cy="143247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988" tIns="122799" rIns="116988" bIns="122799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Feature Creation: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TF-IDF vectors (baseline)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Transformer embeddings (BERT)</a:t>
          </a:r>
          <a:endParaRPr lang="en-US" sz="1200" kern="1200"/>
        </a:p>
      </dsp:txBody>
      <dsp:txXfrm>
        <a:off x="1059078" y="1983902"/>
        <a:ext cx="2387463" cy="1432478"/>
      </dsp:txXfrm>
    </dsp:sp>
    <dsp:sp modelId="{995E2E9A-2D74-409C-86D6-ED16A10CB698}">
      <dsp:nvSpPr>
        <dsp:cNvPr id="0" name=""/>
        <dsp:cNvSpPr/>
      </dsp:nvSpPr>
      <dsp:spPr>
        <a:xfrm>
          <a:off x="2252810" y="3414581"/>
          <a:ext cx="2936580" cy="518516"/>
        </a:xfrm>
        <a:custGeom>
          <a:avLst/>
          <a:gdLst/>
          <a:ahLst/>
          <a:cxnLst/>
          <a:rect l="0" t="0" r="0" b="0"/>
          <a:pathLst>
            <a:path>
              <a:moveTo>
                <a:pt x="2936580" y="0"/>
              </a:moveTo>
              <a:lnTo>
                <a:pt x="2936580" y="276358"/>
              </a:lnTo>
              <a:lnTo>
                <a:pt x="0" y="276358"/>
              </a:lnTo>
              <a:lnTo>
                <a:pt x="0" y="518516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46413" y="3671093"/>
        <a:ext cx="149373" cy="5491"/>
      </dsp:txXfrm>
    </dsp:sp>
    <dsp:sp modelId="{2F411D89-FA25-42E9-B4C4-2A0711FA8068}">
      <dsp:nvSpPr>
        <dsp:cNvPr id="0" name=""/>
        <dsp:cNvSpPr/>
      </dsp:nvSpPr>
      <dsp:spPr>
        <a:xfrm>
          <a:off x="3995658" y="1983902"/>
          <a:ext cx="2387463" cy="143247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988" tIns="122799" rIns="116988" bIns="122799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Model Training: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Train baseline Ridge Regression.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Fine-tune BERT Cross-Encoder on combined datasets.</a:t>
          </a:r>
          <a:endParaRPr lang="en-US" sz="1200" kern="1200"/>
        </a:p>
      </dsp:txBody>
      <dsp:txXfrm>
        <a:off x="3995658" y="1983902"/>
        <a:ext cx="2387463" cy="1432478"/>
      </dsp:txXfrm>
    </dsp:sp>
    <dsp:sp modelId="{809EEBBB-CD8A-4057-A385-154CB3990D4A}">
      <dsp:nvSpPr>
        <dsp:cNvPr id="0" name=""/>
        <dsp:cNvSpPr/>
      </dsp:nvSpPr>
      <dsp:spPr>
        <a:xfrm>
          <a:off x="3444742" y="4636017"/>
          <a:ext cx="5185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8516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90272" y="4678991"/>
        <a:ext cx="27455" cy="5491"/>
      </dsp:txXfrm>
    </dsp:sp>
    <dsp:sp modelId="{A1C23D96-A4B4-476B-8790-DA803D52AFB2}">
      <dsp:nvSpPr>
        <dsp:cNvPr id="0" name=""/>
        <dsp:cNvSpPr/>
      </dsp:nvSpPr>
      <dsp:spPr>
        <a:xfrm>
          <a:off x="1059078" y="3965497"/>
          <a:ext cx="2387463" cy="143247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988" tIns="122799" rIns="116988" bIns="122799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Model Evaluation: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Compare predicted scores vs. human scores using </a:t>
          </a:r>
          <a:r>
            <a:rPr lang="en-IN" sz="1200" b="1" kern="1200"/>
            <a:t>QWK &amp; MSE</a:t>
          </a:r>
          <a:r>
            <a:rPr lang="en-IN" sz="1200" kern="1200"/>
            <a:t>.</a:t>
          </a:r>
          <a:endParaRPr lang="en-US" sz="1200" kern="1200"/>
        </a:p>
      </dsp:txBody>
      <dsp:txXfrm>
        <a:off x="1059078" y="3965497"/>
        <a:ext cx="2387463" cy="1432478"/>
      </dsp:txXfrm>
    </dsp:sp>
    <dsp:sp modelId="{CD5030B3-5F8C-48A3-BE44-1CE059EDA94C}">
      <dsp:nvSpPr>
        <dsp:cNvPr id="0" name=""/>
        <dsp:cNvSpPr/>
      </dsp:nvSpPr>
      <dsp:spPr>
        <a:xfrm>
          <a:off x="3995658" y="3965497"/>
          <a:ext cx="2387463" cy="143247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988" tIns="122799" rIns="116988" bIns="122799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Output: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Final predicted grade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Export results to CSV for teacher usage.</a:t>
          </a:r>
          <a:endParaRPr lang="en-US" sz="1200" kern="1200"/>
        </a:p>
      </dsp:txBody>
      <dsp:txXfrm>
        <a:off x="3995658" y="3965497"/>
        <a:ext cx="2387463" cy="1432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24B020-9BAA-47BD-9B48-F528C21A57CA}">
      <dsp:nvSpPr>
        <dsp:cNvPr id="0" name=""/>
        <dsp:cNvSpPr/>
      </dsp:nvSpPr>
      <dsp:spPr>
        <a:xfrm>
          <a:off x="2282117" y="1235753"/>
          <a:ext cx="4930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3011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5532" y="1278853"/>
        <a:ext cx="26180" cy="5241"/>
      </dsp:txXfrm>
    </dsp:sp>
    <dsp:sp modelId="{88C2175F-7CDD-41B4-BCF2-87536DD8E570}">
      <dsp:nvSpPr>
        <dsp:cNvPr id="0" name=""/>
        <dsp:cNvSpPr/>
      </dsp:nvSpPr>
      <dsp:spPr>
        <a:xfrm>
          <a:off x="7345" y="598502"/>
          <a:ext cx="2276571" cy="13659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54" tIns="117095" rIns="111554" bIns="1170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Data Sources: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err="1"/>
            <a:t>SciEntsBank</a:t>
          </a:r>
          <a:r>
            <a:rPr lang="en-IN" sz="1200" kern="1200"/>
            <a:t> (scientific QA),Mohler &amp; Mihalcea (technical QA),STS Benchmark (semantic pretraining)</a:t>
          </a:r>
          <a:endParaRPr lang="en-US" sz="1200" kern="1200"/>
        </a:p>
      </dsp:txBody>
      <dsp:txXfrm>
        <a:off x="7345" y="598502"/>
        <a:ext cx="2276571" cy="1365942"/>
      </dsp:txXfrm>
    </dsp:sp>
    <dsp:sp modelId="{FC84068B-C79F-45C9-AE10-56E8E8DF0AC6}">
      <dsp:nvSpPr>
        <dsp:cNvPr id="0" name=""/>
        <dsp:cNvSpPr/>
      </dsp:nvSpPr>
      <dsp:spPr>
        <a:xfrm>
          <a:off x="5082300" y="1235753"/>
          <a:ext cx="4930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3011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5715" y="1278853"/>
        <a:ext cx="26180" cy="5241"/>
      </dsp:txXfrm>
    </dsp:sp>
    <dsp:sp modelId="{0331D266-EFC1-42C8-B7F0-4F2020EDFFC0}">
      <dsp:nvSpPr>
        <dsp:cNvPr id="0" name=""/>
        <dsp:cNvSpPr/>
      </dsp:nvSpPr>
      <dsp:spPr>
        <a:xfrm>
          <a:off x="2807528" y="598502"/>
          <a:ext cx="2276571" cy="13659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54" tIns="117095" rIns="111554" bIns="1170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Ingestion &amp; Parsing: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Teacher and Student answer pairs</a:t>
          </a:r>
          <a:endParaRPr lang="en-US" sz="1200" kern="1200"/>
        </a:p>
      </dsp:txBody>
      <dsp:txXfrm>
        <a:off x="2807528" y="598502"/>
        <a:ext cx="2276571" cy="1365942"/>
      </dsp:txXfrm>
    </dsp:sp>
    <dsp:sp modelId="{2A0F82B4-CB59-44C9-8E4F-60A0B9E0BBC8}">
      <dsp:nvSpPr>
        <dsp:cNvPr id="0" name=""/>
        <dsp:cNvSpPr/>
      </dsp:nvSpPr>
      <dsp:spPr>
        <a:xfrm>
          <a:off x="7882483" y="1235753"/>
          <a:ext cx="4930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3011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15898" y="1278853"/>
        <a:ext cx="26180" cy="5241"/>
      </dsp:txXfrm>
    </dsp:sp>
    <dsp:sp modelId="{99850B24-A33D-4F37-A689-10DD4CD4DEBD}">
      <dsp:nvSpPr>
        <dsp:cNvPr id="0" name=""/>
        <dsp:cNvSpPr/>
      </dsp:nvSpPr>
      <dsp:spPr>
        <a:xfrm>
          <a:off x="5607711" y="598502"/>
          <a:ext cx="2276571" cy="13659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54" tIns="117095" rIns="111554" bIns="1170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Preprocessing Pipeline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Text cleaning: Lowercase, remove Prefixes, Punctuation and Whitespace, Tokenization, Normalization </a:t>
          </a:r>
          <a:endParaRPr lang="en-US" sz="1200" kern="1200"/>
        </a:p>
      </dsp:txBody>
      <dsp:txXfrm>
        <a:off x="5607711" y="598502"/>
        <a:ext cx="2276571" cy="1365942"/>
      </dsp:txXfrm>
    </dsp:sp>
    <dsp:sp modelId="{B442A067-5146-4E50-855C-B79F04DFFFDF}">
      <dsp:nvSpPr>
        <dsp:cNvPr id="0" name=""/>
        <dsp:cNvSpPr/>
      </dsp:nvSpPr>
      <dsp:spPr>
        <a:xfrm>
          <a:off x="1145631" y="1962645"/>
          <a:ext cx="8400548" cy="493011"/>
        </a:xfrm>
        <a:custGeom>
          <a:avLst/>
          <a:gdLst/>
          <a:ahLst/>
          <a:cxnLst/>
          <a:rect l="0" t="0" r="0" b="0"/>
          <a:pathLst>
            <a:path>
              <a:moveTo>
                <a:pt x="8400548" y="0"/>
              </a:moveTo>
              <a:lnTo>
                <a:pt x="8400548" y="263605"/>
              </a:lnTo>
              <a:lnTo>
                <a:pt x="0" y="263605"/>
              </a:lnTo>
              <a:lnTo>
                <a:pt x="0" y="493011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35484" y="2206530"/>
        <a:ext cx="420842" cy="5241"/>
      </dsp:txXfrm>
    </dsp:sp>
    <dsp:sp modelId="{4DCC09B3-891B-4128-9E70-4F305DAFBE93}">
      <dsp:nvSpPr>
        <dsp:cNvPr id="0" name=""/>
        <dsp:cNvSpPr/>
      </dsp:nvSpPr>
      <dsp:spPr>
        <a:xfrm>
          <a:off x="8407894" y="598502"/>
          <a:ext cx="2276571" cy="136594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54" tIns="117095" rIns="111554" bIns="1170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Feature Engineering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TF-IDF vectorization, SBERT / BERT embeddings, Extra lexical features: answer length, keyword overlap</a:t>
          </a:r>
          <a:endParaRPr lang="en-US" sz="1200" kern="1200"/>
        </a:p>
      </dsp:txBody>
      <dsp:txXfrm>
        <a:off x="8407894" y="598502"/>
        <a:ext cx="2276571" cy="1365942"/>
      </dsp:txXfrm>
    </dsp:sp>
    <dsp:sp modelId="{B34F4E1F-356F-4A0E-A777-FE29BDE69DA6}">
      <dsp:nvSpPr>
        <dsp:cNvPr id="0" name=""/>
        <dsp:cNvSpPr/>
      </dsp:nvSpPr>
      <dsp:spPr>
        <a:xfrm>
          <a:off x="2282117" y="3125308"/>
          <a:ext cx="4930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3011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5532" y="3168407"/>
        <a:ext cx="26180" cy="5241"/>
      </dsp:txXfrm>
    </dsp:sp>
    <dsp:sp modelId="{ABB3B558-BF71-4E20-8E91-440308110184}">
      <dsp:nvSpPr>
        <dsp:cNvPr id="0" name=""/>
        <dsp:cNvSpPr/>
      </dsp:nvSpPr>
      <dsp:spPr>
        <a:xfrm>
          <a:off x="7345" y="2488056"/>
          <a:ext cx="2276571" cy="136594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54" tIns="117095" rIns="111554" bIns="1170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Modeling Layer (Two branches)</a:t>
          </a:r>
          <a:r>
            <a:rPr lang="en-US" sz="1400" kern="120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Baseline Model:</a:t>
          </a:r>
          <a:r>
            <a:rPr lang="en-US" sz="1200" kern="1200"/>
            <a:t> TF-IDF + Ridge Regression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Advanced Model:</a:t>
          </a:r>
          <a:r>
            <a:rPr lang="en-US" sz="1200" kern="1200"/>
            <a:t> Fine-tuned </a:t>
          </a:r>
          <a:r>
            <a:rPr lang="en-US" sz="1200" kern="1200" err="1"/>
            <a:t>DeBERTa</a:t>
          </a:r>
          <a:r>
            <a:rPr lang="en-US" sz="1200" kern="1200"/>
            <a:t> Cross-Encoder with regression head</a:t>
          </a:r>
        </a:p>
      </dsp:txBody>
      <dsp:txXfrm>
        <a:off x="7345" y="2488056"/>
        <a:ext cx="2276571" cy="1365942"/>
      </dsp:txXfrm>
    </dsp:sp>
    <dsp:sp modelId="{96947C70-401F-4CCA-BDEC-52336AA8E719}">
      <dsp:nvSpPr>
        <dsp:cNvPr id="0" name=""/>
        <dsp:cNvSpPr/>
      </dsp:nvSpPr>
      <dsp:spPr>
        <a:xfrm>
          <a:off x="5082300" y="3125308"/>
          <a:ext cx="4930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3011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5715" y="3168407"/>
        <a:ext cx="26180" cy="5241"/>
      </dsp:txXfrm>
    </dsp:sp>
    <dsp:sp modelId="{B593A361-4D4B-48E7-9D54-4311B8735DEC}">
      <dsp:nvSpPr>
        <dsp:cNvPr id="0" name=""/>
        <dsp:cNvSpPr/>
      </dsp:nvSpPr>
      <dsp:spPr>
        <a:xfrm>
          <a:off x="2807528" y="2488056"/>
          <a:ext cx="2276571" cy="13659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54" tIns="117095" rIns="111554" bIns="1170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Ensemble &amp; Calibration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Selection based on QWK, Re-scale outputs to the original scoring range</a:t>
          </a:r>
        </a:p>
      </dsp:txBody>
      <dsp:txXfrm>
        <a:off x="2807528" y="2488056"/>
        <a:ext cx="2276571" cy="1365942"/>
      </dsp:txXfrm>
    </dsp:sp>
    <dsp:sp modelId="{CB5B1775-D0AE-467B-9529-8D5A01F8E77D}">
      <dsp:nvSpPr>
        <dsp:cNvPr id="0" name=""/>
        <dsp:cNvSpPr/>
      </dsp:nvSpPr>
      <dsp:spPr>
        <a:xfrm>
          <a:off x="7882483" y="3125308"/>
          <a:ext cx="4930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3011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15898" y="3168407"/>
        <a:ext cx="26180" cy="5241"/>
      </dsp:txXfrm>
    </dsp:sp>
    <dsp:sp modelId="{B0400C46-52F1-4FC9-B760-A6CA9A2BC370}">
      <dsp:nvSpPr>
        <dsp:cNvPr id="0" name=""/>
        <dsp:cNvSpPr/>
      </dsp:nvSpPr>
      <dsp:spPr>
        <a:xfrm>
          <a:off x="5607711" y="2488056"/>
          <a:ext cx="2276571" cy="13659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54" tIns="117095" rIns="111554" bIns="1170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Evaluation</a:t>
          </a:r>
          <a:r>
            <a:rPr lang="en-US" sz="1400" kern="120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MSE and Quadratic Weighted Kappa (QWK)</a:t>
          </a:r>
        </a:p>
      </dsp:txBody>
      <dsp:txXfrm>
        <a:off x="5607711" y="2488056"/>
        <a:ext cx="2276571" cy="1365942"/>
      </dsp:txXfrm>
    </dsp:sp>
    <dsp:sp modelId="{7A041656-60C3-4B5A-ADAF-A01216DE3DA7}">
      <dsp:nvSpPr>
        <dsp:cNvPr id="0" name=""/>
        <dsp:cNvSpPr/>
      </dsp:nvSpPr>
      <dsp:spPr>
        <a:xfrm>
          <a:off x="8407894" y="2488056"/>
          <a:ext cx="2276571" cy="13659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54" tIns="117095" rIns="111554" bIns="1170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Output &amp; Export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Produce grades</a:t>
          </a:r>
        </a:p>
      </dsp:txBody>
      <dsp:txXfrm>
        <a:off x="8407894" y="2488056"/>
        <a:ext cx="2276571" cy="13659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17:39:57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17483 3667 16383 0 0,'0'6'0'0'0,"0"8"0"0"0,0 8 0 0 0,0 7 0 0 0,0 3 0 0 0,0 4 0 0 0,0 0 0 0 0,0 2 0 0 0,0-1 0 0 0,0 0 0 0 0,0 0 0 0 0,0 0 0 0 0,0-1 0 0 0,0 0 0 0 0,0 0 0 0 0,0 0 0 0 0,0 0 0 0 0,0-1 0 0 0,0 1 0 0 0,0 0 0 0 0,0 0 0 0 0,0 0 0 0 0,0 0 0 0 0,0-1 0 0 0,0 1 0 0 0,0 0 0 0 0,0 0 0 0 0,0 0 0 0 0,0 0 0 0 0,0 0 0 0 0,0 0 0 0 0,0 0 0 0 0,0-1 0 0 0,0 1 0 0 0,0 0 0 0 0,0 0 0 0 0,0 0 0 0 0,0 0 0 0 0,0 0 0 0 0,0 0 0 0 0,0-1 0 0 0,0 1 0 0 0,0 0 0 0 0,0 0 0 0 0,0 0 0 0 0,0 0 0 0 0,0 0 0 0 0,0 0 0 0 0,0-1 0 0 0,0 1 0 0 0,0 0 0 0 0,0 6 0 0 0,0 2 0 0 0,0 0 0 0 0,0-2 0 0 0,0-2 0 0 0,0 5 0 0 0,0 0 0 0 0,0 0 0 0 0,0-3 0 0 0,0-2 0 0 0,0-2 0 0 0,0-1 0 0 0,0-1 0 0 0,0 0 0 0 0,0-1 0 0 0,0 1 0 0 0,0-1 0 0 0,0 1 0 0 0,0 0 0 0 0,0-1 0 0 0,0 1 0 0 0,0 0 0 0 0,0 0 0 0 0,0 0 0 0 0,0 0 0 0 0,0 0 0 0 0,0 0 0 0 0,0-1 0 0 0,0 1 0 0 0,0 0 0 0 0,0 0 0 0 0,0 0 0 0 0,0 0 0 0 0,0 0 0 0 0,0 0 0 0 0,0-1 0 0 0,0 1 0 0 0,0-6 0 0 0,0-2 0 0 0,0 0 0 0 0,0 2 0 0 0,0 1 0 0 0,0 2 0 0 0,0 2 0 0 0,0 0 0 0 0,0 1 0 0 0,0 0 0 0 0,0 0 0 0 0,0 0 0 0 0,0 0 0 0 0,0 1 0 0 0,0-1 0 0 0,0-1 0 0 0,0 1 0 0 0,0 0 0 0 0,0 0 0 0 0,0 0 0 0 0,0 0 0 0 0,0 0 0 0 0,0 0 0 0 0,0-1 0 0 0,0 1 0 0 0,0 0 0 0 0,0 0 0 0 0,0 0 0 0 0,0 0 0 0 0,0 0 0 0 0,0 0 0 0 0,0-1 0 0 0,0-5 0 0 0,0-2 0 0 0,0 0 0 0 0,0 2 0 0 0,0 1 0 0 0,0 2 0 0 0,0 2 0 0 0,0 0 0 0 0,0 1 0 0 0,0 0 0 0 0,0 0 0 0 0,0 0 0 0 0,0 1 0 0 0,0-1 0 0 0,0 0 0 0 0,0 0 0 0 0,0 0 0 0 0,0-1 0 0 0,0 1 0 0 0,0 0 0 0 0,0 0 0 0 0,0 0 0 0 0,0 0 0 0 0,0 0 0 0 0,0-1 0 0 0,0 1 0 0 0,0 0 0 0 0,0 0 0 0 0,0 0 0 0 0,0 0 0 0 0,0 0 0 0 0,0 0 0 0 0,0-1 0 0 0,0-5 0 0 0,0-2 0 0 0,0 0 0 0 0,0 2 0 0 0,0 1 0 0 0,0 2 0 0 0,0 2 0 0 0,0 0 0 0 0,0 1 0 0 0,0 0 0 0 0,0 0 0 0 0,0 0 0 0 0,0 1 0 0 0,0-1 0 0 0,0 0 0 0 0,0 0 0 0 0,0 0 0 0 0,0-1 0 0 0,0 1 0 0 0,0 0 0 0 0,0 0 0 0 0,0 0 0 0 0,0 0 0 0 0,0 0 0 0 0,0-1 0 0 0,0 1 0 0 0,0 0 0 0 0,0 0 0 0 0,0 0 0 0 0,0 0 0 0 0,0 0 0 0 0,0 0 0 0 0,0-1 0 0 0,0 1 0 0 0,0 0 0 0 0,0 0 0 0 0,0 0 0 0 0,0 0 0 0 0,0 0 0 0 0,0 0 0 0 0,0-1 0 0 0,0 1 0 0 0,0 0 0 0 0,0 0 0 0 0,0 0 0 0 0,0 0 0 0 0,0 0 0 0 0,0 0 0 0 0,0 0 0 0 0,0-1 0 0 0,0 1 0 0 0,0 0 0 0 0,0 0 0 0 0,0 0 0 0 0,0 0 0 0 0,0-6 0 0 0,0-3 0 0 0,0 1 0 0 0,0-4 0 0 0,0-1 0 0 0,0 3 0 0 0,0 2 0 0 0,0 3 0 0 0,0 2 0 0 0,0 1 0 0 0,0 2 0 0 0,0 0 0 0 0,0 1 0 0 0,0-1 0 0 0,0 0 0 0 0,0 1 0 0 0,0-1 0 0 0,0 0 0 0 0,0 0 0 0 0,0 0 0 0 0,0-1 0 0 0,0-5 0 0 0,0-2 0 0 0,0 0 0 0 0,0 2 0 0 0,0 1 0 0 0,0 2 0 0 0,0 2 0 0 0,0 0 0 0 0,0 1 0 0 0,0 0 0 0 0,0 0 0 0 0,0 0 0 0 0,0 1 0 0 0,0-1 0 0 0,0 0 0 0 0,0 0 0 0 0,0-1 0 0 0,0 1 0 0 0,0 0 0 0 0,0 0 0 0 0,0 0 0 0 0,0 0 0 0 0,0 0 0 0 0,0 0 0 0 0,0-1 0 0 0,0 1 0 0 0,0 0 0 0 0,0 0 0 0 0,0 0 0 0 0,0 0 0 0 0,0 0 0 0 0,0 0 0 0 0,0-1 0 0 0,0 1 0 0 0,0 0 0 0 0,0 0 0 0 0,0-6 0 0 0,0-2 0 0 0,0 0 0 0 0,0 1 0 0 0,0 3 0 0 0,0-5 0 0 0,0-1 0 0 0,0 2 0 0 0,0 1 0 0 0,0-3 0 0 0,0-1 0 0 0,0-4 0 0 0,0 0 0 0 0,0 3 0 0 0,0 4 0 0 0,0 8 0 0 0,0 5 0 0 0,0 1 0 0 0,0 0 0 0 0,0-1 0 0 0,0-2 0 0 0,0-1 0 0 0,0-1 0 0 0,0 0 0 0 0,0-1 0 0 0,0-1 0 0 0,0 1 0 0 0,0-1 0 0 0,0 7 0 0 0,0 2 0 0 0,0 6 0 0 0,0 6 0 0 0,0 0 0 0 0,0-3 0 0 0,0-5 0 0 0,0-5 0 0 0,0-3 0 0 0,0-2 0 0 0,0-2 0 0 0,0 0 0 0 0,0 5 0 0 0,0-4 0 0 0,0-3 0 0 0,0 0 0 0 0,0 0 0 0 0,0 0 0 0 0,0-6 0 0 0,0-1 0 0 0,0 1 0 0 0,0-5 0 0 0,0 0 0 0 0,0 3 0 0 0,0 2 0 0 0,0 3 0 0 0,0 2 0 0 0,0 2 0 0 0,0 1 0 0 0,0 0 0 0 0,0 0 0 0 0,0-5 0 0 0,0-3 0 0 0,0 0 0 0 0,0 2 0 0 0,0 2 0 0 0,0 1 0 0 0,0 1 0 0 0,0 2 0 0 0,0-1 0 0 0,0-5 0 0 0,0-1 0 0 0,0-1 0 0 0,0-4 0 0 0,0-1 0 0 0,0 3 0 0 0,0-4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17:08:22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17483 3667 16383 0 0,'0'6'0'0'0,"0"8"0"0"0,0 8 0 0 0,0 7 0 0 0,0 3 0 0 0,0 4 0 0 0,0 0 0 0 0,0 2 0 0 0,0-1 0 0 0,0 0 0 0 0,0 0 0 0 0,0 0 0 0 0,0-1 0 0 0,0 0 0 0 0,0 0 0 0 0,0 0 0 0 0,0 0 0 0 0,0-1 0 0 0,0 1 0 0 0,0 0 0 0 0,0 0 0 0 0,0 0 0 0 0,0 0 0 0 0,0-1 0 0 0,0 1 0 0 0,0 0 0 0 0,0 0 0 0 0,0 0 0 0 0,0 0 0 0 0,0 0 0 0 0,0 0 0 0 0,0 0 0 0 0,0-1 0 0 0,0 1 0 0 0,0 0 0 0 0,0 0 0 0 0,0 0 0 0 0,0 0 0 0 0,0 0 0 0 0,0 0 0 0 0,0-1 0 0 0,0 1 0 0 0,0 0 0 0 0,0 0 0 0 0,0 0 0 0 0,0 0 0 0 0,0 0 0 0 0,0 0 0 0 0,0-1 0 0 0,0 1 0 0 0,0 0 0 0 0,0 6 0 0 0,0 2 0 0 0,0 0 0 0 0,0-2 0 0 0,0-2 0 0 0,0 5 0 0 0,0 0 0 0 0,0 0 0 0 0,0-3 0 0 0,0-2 0 0 0,0-2 0 0 0,0-1 0 0 0,0-1 0 0 0,0 0 0 0 0,0-1 0 0 0,0 1 0 0 0,0-1 0 0 0,0 1 0 0 0,0 0 0 0 0,0-1 0 0 0,0 1 0 0 0,0 0 0 0 0,0 0 0 0 0,0 0 0 0 0,0 0 0 0 0,0 0 0 0 0,0 0 0 0 0,0-1 0 0 0,0 1 0 0 0,0 0 0 0 0,0 0 0 0 0,0 0 0 0 0,0 0 0 0 0,0 0 0 0 0,0 0 0 0 0,0-1 0 0 0,0 1 0 0 0,0-6 0 0 0,0-2 0 0 0,0 0 0 0 0,0 2 0 0 0,0 1 0 0 0,0 2 0 0 0,0 2 0 0 0,0 0 0 0 0,0 1 0 0 0,0 0 0 0 0,0 0 0 0 0,0 0 0 0 0,0 0 0 0 0,0 1 0 0 0,0-1 0 0 0,0-1 0 0 0,0 1 0 0 0,0 0 0 0 0,0 0 0 0 0,0 0 0 0 0,0 0 0 0 0,0 0 0 0 0,0 0 0 0 0,0-1 0 0 0,0 1 0 0 0,0 0 0 0 0,0 0 0 0 0,0 0 0 0 0,0 0 0 0 0,0 0 0 0 0,0 0 0 0 0,0-1 0 0 0,0-5 0 0 0,0-2 0 0 0,0 0 0 0 0,0 2 0 0 0,0 1 0 0 0,0 2 0 0 0,0 2 0 0 0,0 0 0 0 0,0 1 0 0 0,0 0 0 0 0,0 0 0 0 0,0 0 0 0 0,0 1 0 0 0,0-1 0 0 0,0 0 0 0 0,0 0 0 0 0,0 0 0 0 0,0-1 0 0 0,0 1 0 0 0,0 0 0 0 0,0 0 0 0 0,0 0 0 0 0,0 0 0 0 0,0 0 0 0 0,0-1 0 0 0,0 1 0 0 0,0 0 0 0 0,0 0 0 0 0,0 0 0 0 0,0 0 0 0 0,0 0 0 0 0,0 0 0 0 0,0-1 0 0 0,0-5 0 0 0,0-2 0 0 0,0 0 0 0 0,0 2 0 0 0,0 1 0 0 0,0 2 0 0 0,0 2 0 0 0,0 0 0 0 0,0 1 0 0 0,0 0 0 0 0,0 0 0 0 0,0 0 0 0 0,0 1 0 0 0,0-1 0 0 0,0 0 0 0 0,0 0 0 0 0,0 0 0 0 0,0-1 0 0 0,0 1 0 0 0,0 0 0 0 0,0 0 0 0 0,0 0 0 0 0,0 0 0 0 0,0 0 0 0 0,0-1 0 0 0,0 1 0 0 0,0 0 0 0 0,0 0 0 0 0,0 0 0 0 0,0 0 0 0 0,0 0 0 0 0,0 0 0 0 0,0-1 0 0 0,0 1 0 0 0,0 0 0 0 0,0 0 0 0 0,0 0 0 0 0,0 0 0 0 0,0 0 0 0 0,0 0 0 0 0,0-1 0 0 0,0 1 0 0 0,0 0 0 0 0,0 0 0 0 0,0 0 0 0 0,0 0 0 0 0,0 0 0 0 0,0 0 0 0 0,0 0 0 0 0,0-1 0 0 0,0 1 0 0 0,0 0 0 0 0,0 0 0 0 0,0 0 0 0 0,0 0 0 0 0,0-6 0 0 0,0-3 0 0 0,0 1 0 0 0,0-4 0 0 0,0-1 0 0 0,0 3 0 0 0,0 2 0 0 0,0 3 0 0 0,0 2 0 0 0,0 1 0 0 0,0 2 0 0 0,0 0 0 0 0,0 1 0 0 0,0-1 0 0 0,0 0 0 0 0,0 1 0 0 0,0-1 0 0 0,0 0 0 0 0,0 0 0 0 0,0 0 0 0 0,0-1 0 0 0,0-5 0 0 0,0-2 0 0 0,0 0 0 0 0,0 2 0 0 0,0 1 0 0 0,0 2 0 0 0,0 2 0 0 0,0 0 0 0 0,0 1 0 0 0,0 0 0 0 0,0 0 0 0 0,0 0 0 0 0,0 1 0 0 0,0-1 0 0 0,0 0 0 0 0,0 0 0 0 0,0-1 0 0 0,0 1 0 0 0,0 0 0 0 0,0 0 0 0 0,0 0 0 0 0,0 0 0 0 0,0 0 0 0 0,0 0 0 0 0,0-1 0 0 0,0 1 0 0 0,0 0 0 0 0,0 0 0 0 0,0 0 0 0 0,0 0 0 0 0,0 0 0 0 0,0 0 0 0 0,0-1 0 0 0,0 1 0 0 0,0 0 0 0 0,0 0 0 0 0,0-6 0 0 0,0-2 0 0 0,0 0 0 0 0,0 1 0 0 0,0 3 0 0 0,0-5 0 0 0,0-1 0 0 0,0 2 0 0 0,0 1 0 0 0,0-3 0 0 0,0-1 0 0 0,0-4 0 0 0,0 0 0 0 0,0 3 0 0 0,0 4 0 0 0,0 8 0 0 0,0 5 0 0 0,0 1 0 0 0,0 0 0 0 0,0-1 0 0 0,0-2 0 0 0,0-1 0 0 0,0-1 0 0 0,0 0 0 0 0,0-1 0 0 0,0-1 0 0 0,0 1 0 0 0,0-1 0 0 0,0 7 0 0 0,0 2 0 0 0,0 6 0 0 0,0 6 0 0 0,0 0 0 0 0,0-3 0 0 0,0-5 0 0 0,0-5 0 0 0,0-3 0 0 0,0-2 0 0 0,0-2 0 0 0,0 0 0 0 0,0 5 0 0 0,0-4 0 0 0,0-3 0 0 0,0 0 0 0 0,0 0 0 0 0,0 0 0 0 0,0-6 0 0 0,0-1 0 0 0,0 1 0 0 0,0-5 0 0 0,0 0 0 0 0,0 3 0 0 0,0 2 0 0 0,0 3 0 0 0,0 2 0 0 0,0 2 0 0 0,0 1 0 0 0,0 0 0 0 0,0 0 0 0 0,0-5 0 0 0,0-3 0 0 0,0 0 0 0 0,0 2 0 0 0,0 2 0 0 0,0 1 0 0 0,0 1 0 0 0,0 2 0 0 0,0-1 0 0 0,0-5 0 0 0,0-1 0 0 0,0-1 0 0 0,0-4 0 0 0,0-1 0 0 0,0 3 0 0 0,0-4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7T17:08:27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30596 6059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EAE12-38F9-4659-ADD9-C97625529AB6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A199F-FD7A-48C5-9728-7B366993D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34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49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06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6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69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4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4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87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540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98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2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38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rgbClr val="8CB1D3"/>
            </a:gs>
            <a:gs pos="25000">
              <a:schemeClr val="bg1"/>
            </a:gs>
            <a:gs pos="100000">
              <a:srgbClr val="00539D"/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13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2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customXml" Target="../ink/ink3.xml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E09-1065/" TargetMode="External"/><Relationship Id="rId2" Type="http://schemas.openxmlformats.org/officeDocument/2006/relationships/hyperlink" Target="https://www.tandfonline.com/doi/abs/10.1080/01638539809545028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xiv.org/abs/1810.0480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886D-14A6-79D3-10B5-E0955CEC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6" y="914399"/>
            <a:ext cx="5612311" cy="2792827"/>
          </a:xfrm>
        </p:spPr>
        <p:txBody>
          <a:bodyPr>
            <a:normAutofit/>
          </a:bodyPr>
          <a:lstStyle/>
          <a:p>
            <a:r>
              <a:rPr lang="en-IN" sz="4400">
                <a:solidFill>
                  <a:schemeClr val="tx1">
                    <a:lumMod val="95000"/>
                    <a:lumOff val="5000"/>
                  </a:schemeClr>
                </a:solidFill>
                <a:latin typeface="Amasis MT Pro Black"/>
              </a:rPr>
              <a:t>AUTOMATIC Short-Answer Grading Using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3DFBE-5D3B-7CEB-4F25-25FE7A357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017" y="5169090"/>
            <a:ext cx="4401403" cy="7745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b="1"/>
              <a:t>Group ID: 25GK25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B4D0C1-F2CD-071C-BE56-0EBC50BC7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842" y="6200412"/>
            <a:ext cx="1109158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5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1000">
              <a:srgbClr val="8CB1D3"/>
            </a:gs>
            <a:gs pos="25000">
              <a:schemeClr val="bg1"/>
            </a:gs>
            <a:gs pos="100000">
              <a:srgbClr val="00539D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3715A5-8048-453E-A44A-0F17BBB48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A865EEE6-15D6-2428-D391-BE4EC08A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790957"/>
            <a:ext cx="10691265" cy="1307592"/>
          </a:xfrm>
        </p:spPr>
        <p:txBody>
          <a:bodyPr>
            <a:normAutofit/>
          </a:bodyPr>
          <a:lstStyle/>
          <a:p>
            <a:r>
              <a:rPr lang="en-IN" sz="3200" b="1"/>
              <a:t>Roles and Responsibilities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F543BB4-BFCF-3FC3-F121-3870180D2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115472"/>
              </p:ext>
            </p:extLst>
          </p:nvPr>
        </p:nvGraphicFramePr>
        <p:xfrm>
          <a:off x="800100" y="1511530"/>
          <a:ext cx="10591794" cy="48779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275372569"/>
                    </a:ext>
                  </a:extLst>
                </a:gridCol>
                <a:gridCol w="2164772">
                  <a:extLst>
                    <a:ext uri="{9D8B030D-6E8A-4147-A177-3AD203B41FA5}">
                      <a16:colId xmlns:a16="http://schemas.microsoft.com/office/drawing/2014/main" val="2428435483"/>
                    </a:ext>
                  </a:extLst>
                </a:gridCol>
                <a:gridCol w="2701636">
                  <a:extLst>
                    <a:ext uri="{9D8B030D-6E8A-4147-A177-3AD203B41FA5}">
                      <a16:colId xmlns:a16="http://schemas.microsoft.com/office/drawing/2014/main" val="473249653"/>
                    </a:ext>
                  </a:extLst>
                </a:gridCol>
                <a:gridCol w="3439386">
                  <a:extLst>
                    <a:ext uri="{9D8B030D-6E8A-4147-A177-3AD203B41FA5}">
                      <a16:colId xmlns:a16="http://schemas.microsoft.com/office/drawing/2014/main" val="1946091331"/>
                    </a:ext>
                  </a:extLst>
                </a:gridCol>
              </a:tblGrid>
              <a:tr h="333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Name</a:t>
                      </a:r>
                      <a:endParaRPr lang="en-IN" sz="16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Roll Number</a:t>
                      </a:r>
                      <a:endParaRPr lang="en-IN" sz="16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Role</a:t>
                      </a:r>
                      <a:endParaRPr lang="en-IN" sz="16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Responsibilities</a:t>
                      </a:r>
                      <a:endParaRPr lang="en-IN" sz="1600"/>
                    </a:p>
                  </a:txBody>
                  <a:tcPr marL="26526" marR="26526" marT="13263" marB="13263" anchor="ctr"/>
                </a:tc>
                <a:extLst>
                  <a:ext uri="{0D108BD9-81ED-4DB2-BD59-A6C34878D82A}">
                    <a16:rowId xmlns:a16="http://schemas.microsoft.com/office/drawing/2014/main" val="3706497620"/>
                  </a:ext>
                </a:extLst>
              </a:tr>
              <a:tr h="871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err="1"/>
                        <a:t>Sridhanush</a:t>
                      </a:r>
                      <a:endParaRPr lang="en-IN" sz="14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2301CS55</a:t>
                      </a:r>
                      <a:endParaRPr lang="en-IN" sz="14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Data &amp; Preprocessing</a:t>
                      </a:r>
                      <a:endParaRPr lang="en-IN" sz="14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IN" sz="1100"/>
                        <a:t>Collected and prepared all datasets,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IN" sz="1100"/>
                        <a:t>Implemented full text preprocessing Ensured standardized data formatting for training &amp; evaluation.</a:t>
                      </a:r>
                    </a:p>
                  </a:txBody>
                  <a:tcPr marL="26526" marR="26526" marT="13263" marB="13263" anchor="ctr"/>
                </a:tc>
                <a:extLst>
                  <a:ext uri="{0D108BD9-81ED-4DB2-BD59-A6C34878D82A}">
                    <a16:rowId xmlns:a16="http://schemas.microsoft.com/office/drawing/2014/main" val="4204575553"/>
                  </a:ext>
                </a:extLst>
              </a:tr>
              <a:tr h="822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Vineel Kumar</a:t>
                      </a:r>
                      <a:endParaRPr lang="en-IN" sz="14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2301CS62</a:t>
                      </a:r>
                      <a:endParaRPr lang="en-IN" sz="14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Advanced Model &amp; Optimization</a:t>
                      </a:r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Fine-tuned BERT/Cross-Encoder model for short answer grading. 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IN" sz="1100"/>
                        <a:t>Optimized model parameters and training pipeline.</a:t>
                      </a:r>
                    </a:p>
                  </a:txBody>
                  <a:tcPr marL="26526" marR="26526" marT="13263" marB="13263" anchor="ctr"/>
                </a:tc>
                <a:extLst>
                  <a:ext uri="{0D108BD9-81ED-4DB2-BD59-A6C34878D82A}">
                    <a16:rowId xmlns:a16="http://schemas.microsoft.com/office/drawing/2014/main" val="1247772468"/>
                  </a:ext>
                </a:extLst>
              </a:tr>
              <a:tr h="874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Gunavardhan Reddy</a:t>
                      </a:r>
                      <a:endParaRPr lang="en-IN" sz="14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2301CS65</a:t>
                      </a:r>
                      <a:endParaRPr lang="en-IN" sz="14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Baseline Model &amp; System Integration</a:t>
                      </a:r>
                      <a:endParaRPr lang="en-IN" sz="14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Implemented baseline TF-IDF + Ridge Regression Model </a:t>
                      </a:r>
                      <a:endParaRPr lang="en-US" sz="1100"/>
                    </a:p>
                    <a:p>
                      <a:pPr>
                        <a:buNone/>
                      </a:pPr>
                      <a:r>
                        <a:rPr lang="en-US" sz="1100"/>
                        <a:t>Integrated preprocessing, models, and evaluation modules into a complete system. Coordinated code workflow among team members. </a:t>
                      </a:r>
                    </a:p>
                  </a:txBody>
                  <a:tcPr marL="26526" marR="26526" marT="13263" marB="13263" anchor="ctr"/>
                </a:tc>
                <a:extLst>
                  <a:ext uri="{0D108BD9-81ED-4DB2-BD59-A6C34878D82A}">
                    <a16:rowId xmlns:a16="http://schemas.microsoft.com/office/drawing/2014/main" val="3332537260"/>
                  </a:ext>
                </a:extLst>
              </a:tr>
              <a:tr h="992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Sanjay</a:t>
                      </a:r>
                      <a:endParaRPr lang="en-IN" sz="14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2301CS79</a:t>
                      </a:r>
                      <a:endParaRPr lang="en-IN" sz="14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Evaluation &amp; Metrics</a:t>
                      </a:r>
                      <a:endParaRPr lang="en-IN" sz="14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IN" sz="1100"/>
                        <a:t>Conducted performance evaluation using QWK, MSE error analysis.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IN" sz="1100"/>
                        <a:t>Compared baseline and BERT models. - Validated generalization across datasets (</a:t>
                      </a:r>
                      <a:r>
                        <a:rPr lang="en-IN" sz="1100" err="1"/>
                        <a:t>SciEntsBank</a:t>
                      </a:r>
                      <a:r>
                        <a:rPr lang="en-IN" sz="1100"/>
                        <a:t>, Mohler).</a:t>
                      </a:r>
                    </a:p>
                  </a:txBody>
                  <a:tcPr marL="26526" marR="26526" marT="13263" marB="13263" anchor="ctr"/>
                </a:tc>
                <a:extLst>
                  <a:ext uri="{0D108BD9-81ED-4DB2-BD59-A6C34878D82A}">
                    <a16:rowId xmlns:a16="http://schemas.microsoft.com/office/drawing/2014/main" val="1259248761"/>
                  </a:ext>
                </a:extLst>
              </a:tr>
              <a:tr h="982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Hema Vardhan Reddy</a:t>
                      </a:r>
                      <a:endParaRPr lang="en-IN" sz="14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2301CS19</a:t>
                      </a:r>
                      <a:endParaRPr lang="en-IN" sz="1400"/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1" i="0" u="none" strike="noStrike" noProof="0">
                          <a:solidFill>
                            <a:srgbClr val="000000"/>
                          </a:solidFill>
                          <a:latin typeface="Calisto MT"/>
                        </a:rPr>
                        <a:t>Literature Survey &amp; Result Analysis</a:t>
                      </a:r>
                    </a:p>
                    <a:p>
                      <a:pPr lvl="0">
                        <a:buNone/>
                      </a:pPr>
                      <a:endParaRPr lang="en-IN" sz="1400" b="1" i="0" u="none" strike="noStrike" noProof="0">
                        <a:solidFill>
                          <a:srgbClr val="000000"/>
                        </a:solidFill>
                        <a:latin typeface="Calisto MT"/>
                      </a:endParaRPr>
                    </a:p>
                  </a:txBody>
                  <a:tcPr marL="26526" marR="26526" marT="13263" marB="132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Analyzed final results and model outputs. - Designed and prepared the final project demo. </a:t>
                      </a:r>
                    </a:p>
                    <a:p>
                      <a:pPr>
                        <a:buNone/>
                      </a:pPr>
                      <a:r>
                        <a:rPr lang="en-US" sz="1100"/>
                        <a:t>Prepared final project documentation and report.</a:t>
                      </a:r>
                    </a:p>
                  </a:txBody>
                  <a:tcPr marL="26526" marR="26526" marT="13263" marB="13263" anchor="ctr"/>
                </a:tc>
                <a:extLst>
                  <a:ext uri="{0D108BD9-81ED-4DB2-BD59-A6C34878D82A}">
                    <a16:rowId xmlns:a16="http://schemas.microsoft.com/office/drawing/2014/main" val="387977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079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rgbClr val="8CB1D3"/>
            </a:gs>
            <a:gs pos="25000">
              <a:schemeClr val="bg1"/>
            </a:gs>
            <a:gs pos="100000">
              <a:srgbClr val="11648D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FFA14-1660-07B3-E074-64DA02544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6" y="801738"/>
            <a:ext cx="5797146" cy="661358"/>
          </a:xfrm>
        </p:spPr>
        <p:txBody>
          <a:bodyPr>
            <a:normAutofit/>
          </a:bodyPr>
          <a:lstStyle/>
          <a:p>
            <a:r>
              <a:rPr lang="en-IN" sz="3600" b="1"/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9CACC-C5BC-CBA6-C9CC-6C98BE8EC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1463096"/>
            <a:ext cx="10790728" cy="205615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“Short Answer Grading Using NLP” - Manually checking short, descriptive answers is slow, inconsistent, and difficult to scale.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Teachers need a reliable way to evaluate student answers quickly and fairly.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Our project builds an NLP-based system that automatically grades answers by understanding meaning, not just keywords.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7B733-29FC-2E77-E9F0-1F034FCAB1D0}"/>
              </a:ext>
            </a:extLst>
          </p:cNvPr>
          <p:cNvSpPr txBox="1"/>
          <p:nvPr/>
        </p:nvSpPr>
        <p:spPr>
          <a:xfrm>
            <a:off x="789347" y="3510554"/>
            <a:ext cx="3605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/>
              <a:t>MOTIVATION: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DCCC13-D385-1426-902B-C48036F2A982}"/>
              </a:ext>
            </a:extLst>
          </p:cNvPr>
          <p:cNvSpPr txBox="1"/>
          <p:nvPr/>
        </p:nvSpPr>
        <p:spPr>
          <a:xfrm>
            <a:off x="700636" y="4165581"/>
            <a:ext cx="10368951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/>
              <a:t>Manual grading takes a lot of time and effort, especially with large class sizes. Human evaluation can be subjective and vary from teacher to teacher.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/>
              <a:t>Modern NLP models can understand semantic similarity and provide fast, consistent scoring. Automated grading helps deliver instant feedback and reduces workload for educators.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35679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5C9F9-31AA-53BB-2D7C-007279EB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6" y="1145616"/>
            <a:ext cx="10691813" cy="1155618"/>
          </a:xfrm>
        </p:spPr>
        <p:txBody>
          <a:bodyPr>
            <a:normAutofit/>
          </a:bodyPr>
          <a:lstStyle/>
          <a:p>
            <a:r>
              <a:rPr lang="en-IN" b="1"/>
              <a:t>OBJECTIVES: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08A2498-B32B-5A93-FE63-0002CEBF2E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307655"/>
              </p:ext>
            </p:extLst>
          </p:nvPr>
        </p:nvGraphicFramePr>
        <p:xfrm>
          <a:off x="700087" y="1860834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4977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F94A6-485F-051C-B28F-7247B82B5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39" y="796274"/>
            <a:ext cx="10689336" cy="678597"/>
          </a:xfrm>
        </p:spPr>
        <p:txBody>
          <a:bodyPr>
            <a:normAutofit/>
          </a:bodyPr>
          <a:lstStyle/>
          <a:p>
            <a:r>
              <a:rPr lang="en-IN" sz="3600" b="1"/>
              <a:t>Literature Review: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771C4-CF98-E016-5284-C11778405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8578" y="1435708"/>
            <a:ext cx="5212080" cy="441209"/>
          </a:xfrm>
        </p:spPr>
        <p:txBody>
          <a:bodyPr>
            <a:noAutofit/>
          </a:bodyPr>
          <a:lstStyle/>
          <a:p>
            <a:pPr algn="ctr"/>
            <a:r>
              <a:rPr lang="en-IN" sz="2400"/>
              <a:t>OLD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0F348-111C-1D62-14BA-F9EB47A18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9839" y="1933599"/>
            <a:ext cx="5016578" cy="414658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IN" sz="2400" b="1" dirty="0"/>
              <a:t>Traditional Approaches:</a:t>
            </a:r>
          </a:p>
          <a:p>
            <a:r>
              <a:rPr lang="en-IN" dirty="0"/>
              <a:t>Keyword Matching</a:t>
            </a:r>
          </a:p>
          <a:p>
            <a:r>
              <a:rPr lang="en-IN" dirty="0"/>
              <a:t>Scores based on overlap of exact words.</a:t>
            </a:r>
          </a:p>
          <a:p>
            <a:r>
              <a:rPr lang="en-IN" dirty="0"/>
              <a:t>Fails on synonyms or paraphrases → low semantic understanding.</a:t>
            </a:r>
          </a:p>
          <a:p>
            <a:pPr marL="0" indent="0">
              <a:buNone/>
            </a:pPr>
            <a:r>
              <a:rPr lang="en-IN" b="1" dirty="0"/>
              <a:t>TF-IDF  Models:</a:t>
            </a:r>
          </a:p>
          <a:p>
            <a:r>
              <a:rPr lang="en-IN" dirty="0"/>
              <a:t>Represent text using word frequencies and statistics.</a:t>
            </a:r>
          </a:p>
          <a:p>
            <a:r>
              <a:rPr lang="en-IN" dirty="0"/>
              <a:t>Miss context, grammar, and word order.</a:t>
            </a:r>
          </a:p>
          <a:p>
            <a:r>
              <a:rPr lang="en-IN" dirty="0"/>
              <a:t>Sentences like “dog bites man” and “man bites dog” appear similar.</a:t>
            </a:r>
          </a:p>
          <a:p>
            <a:pPr marL="0" indent="0">
              <a:buNone/>
            </a:pPr>
            <a:r>
              <a:rPr lang="en-IN" b="1" dirty="0"/>
              <a:t>Classical ML Graders (Ridge Regression)</a:t>
            </a:r>
          </a:p>
          <a:p>
            <a:r>
              <a:rPr lang="en-IN" dirty="0"/>
              <a:t>Depend heavily on handcrafted features.</a:t>
            </a:r>
          </a:p>
          <a:p>
            <a:r>
              <a:rPr lang="en-IN" dirty="0"/>
              <a:t>Limited generalization across subjects or question types.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1849A7-A7CB-9A0C-A01B-EE5746F9EB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3" y="1435707"/>
            <a:ext cx="5212080" cy="441209"/>
          </a:xfrm>
        </p:spPr>
        <p:txBody>
          <a:bodyPr>
            <a:noAutofit/>
          </a:bodyPr>
          <a:lstStyle/>
          <a:p>
            <a:pPr algn="ctr"/>
            <a:r>
              <a:rPr lang="en-IN" sz="2400"/>
              <a:t>OUR APPROACH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77CA38-31FB-F539-B984-93B6D02DCB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3" y="1933599"/>
            <a:ext cx="5212080" cy="427596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IN" sz="2400" b="1"/>
              <a:t>Modern Transformer-Based Approaches:</a:t>
            </a:r>
          </a:p>
          <a:p>
            <a:pPr marL="229870" indent="-229870"/>
            <a:r>
              <a:rPr lang="en-IN"/>
              <a:t>BERT &amp; </a:t>
            </a:r>
            <a:r>
              <a:rPr lang="en-IN" err="1"/>
              <a:t>DeBERTa</a:t>
            </a:r>
            <a:r>
              <a:rPr lang="en-IN"/>
              <a:t> Models</a:t>
            </a:r>
          </a:p>
          <a:p>
            <a:pPr marL="229870" indent="-229870"/>
            <a:r>
              <a:rPr lang="en-IN"/>
              <a:t>Learn deep contextual meaning instead of word counts.</a:t>
            </a:r>
          </a:p>
          <a:p>
            <a:pPr marL="229870" indent="-229870"/>
            <a:r>
              <a:rPr lang="en-IN"/>
              <a:t>Capture semantics, paraphrasing, and long-range dependencies.</a:t>
            </a:r>
          </a:p>
          <a:p>
            <a:pPr marL="229870" indent="-229870"/>
            <a:r>
              <a:rPr lang="en-IN"/>
              <a:t>Cross-Encoders for Similarity</a:t>
            </a:r>
          </a:p>
          <a:p>
            <a:pPr marL="229870" indent="-229870"/>
            <a:r>
              <a:rPr lang="en-IN"/>
              <a:t>Jointly encode two sentences for token-wise comparison.</a:t>
            </a:r>
          </a:p>
          <a:p>
            <a:pPr marL="229870" indent="-229870"/>
            <a:r>
              <a:rPr lang="en-IN"/>
              <a:t>More accurate than separate encoders (bi-encoders).</a:t>
            </a:r>
          </a:p>
          <a:p>
            <a:pPr marL="229870" indent="-229870"/>
            <a:r>
              <a:rPr lang="en-IN"/>
              <a:t>Older models struggle with semantic similarity and context understanding.</a:t>
            </a:r>
          </a:p>
          <a:p>
            <a:pPr marL="229870" indent="-229870"/>
            <a:r>
              <a:rPr lang="en-IN"/>
              <a:t>Lack of flexibility to grade new/unseen questions.</a:t>
            </a:r>
          </a:p>
          <a:p>
            <a:pPr marL="229870" indent="-229870"/>
            <a:r>
              <a:rPr lang="en-IN"/>
              <a:t>Limited ability to compare student answers directly with reference answers.</a:t>
            </a:r>
          </a:p>
          <a:p>
            <a:pPr marL="229870" indent="-229870"/>
            <a:r>
              <a:rPr lang="en-IN"/>
              <a:t>Most prior work trains question-specific models that cannot generalize.</a:t>
            </a:r>
          </a:p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9741D4A-FC90-3270-CA4D-E8AEF347CAAF}"/>
                  </a:ext>
                </a:extLst>
              </p14:cNvPr>
              <p14:cNvContentPartPr/>
              <p14:nvPr/>
            </p14:nvContentPartPr>
            <p14:xfrm>
              <a:off x="6005461" y="1723895"/>
              <a:ext cx="16144" cy="4250114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9741D4A-FC90-3270-CA4D-E8AEF347CA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98261" y="1705897"/>
                <a:ext cx="1614400" cy="428575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441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 build="p"/>
      <p:bldP spid="6" grpId="0" build="p"/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F5BD355-3F91-FC47-134D-0BC11749E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sz="3700" b="1"/>
              <a:t> How Our Project Improves  </a:t>
            </a:r>
            <a:br>
              <a:rPr lang="en-US" sz="3700" b="1"/>
            </a:br>
            <a:r>
              <a:rPr lang="en-US" sz="3700" b="1"/>
              <a:t> Automated Grading</a:t>
            </a:r>
            <a:endParaRPr lang="en-IN" sz="3700" b="1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E033D83C-DD04-A107-5A91-793FAE13D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800" b="1"/>
              <a:t>Our Two-Model Architecture 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/>
              <a:t>1. </a:t>
            </a:r>
            <a:r>
              <a:rPr lang="en-IN" sz="1600" b="1">
                <a:ea typeface="+mn-lt"/>
                <a:cs typeface="+mn-lt"/>
              </a:rPr>
              <a:t>BERT-Based Direct Scoring Model</a:t>
            </a:r>
            <a:r>
              <a:rPr lang="en-IN" sz="1600"/>
              <a:t> </a:t>
            </a:r>
            <a:r>
              <a:rPr lang="en-IN" sz="1600" b="1"/>
              <a:t> (BERT)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400"/>
              <a:t>       Trained on ASAP essay dataset.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400"/>
              <a:t>       Learns scoring patterns for a specific prompt.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400"/>
              <a:t>       Strength: High accuracy for known questions.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400"/>
              <a:t>       Limitation: Cannot handle new/unseen questions → not generalizable.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/>
              <a:t>2.</a:t>
            </a:r>
            <a:r>
              <a:rPr lang="en-IN" sz="1600"/>
              <a:t> </a:t>
            </a:r>
            <a:r>
              <a:rPr lang="en-IN" sz="1600" b="1">
                <a:ea typeface="+mn-lt"/>
                <a:cs typeface="+mn-lt"/>
              </a:rPr>
              <a:t>Cross-Encoder Semantic Grader</a:t>
            </a:r>
            <a:r>
              <a:rPr lang="en-IN" sz="1600" b="1"/>
              <a:t> (Cross-Encoder)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400"/>
              <a:t>       Our main contribution.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400"/>
              <a:t>       Trained on </a:t>
            </a:r>
            <a:r>
              <a:rPr lang="en-IN" sz="1400" err="1"/>
              <a:t>SciEntsBank</a:t>
            </a:r>
            <a:r>
              <a:rPr lang="en-IN" sz="1400"/>
              <a:t>, Mohler, and STS Benchmark.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400"/>
              <a:t>       Directly compares student answer vs. reference answer.</a:t>
            </a:r>
          </a:p>
        </p:txBody>
      </p:sp>
      <p:pic>
        <p:nvPicPr>
          <p:cNvPr id="26" name="Graphic 25" descr="Classroom">
            <a:extLst>
              <a:ext uri="{FF2B5EF4-FFF2-40B4-BE49-F238E27FC236}">
                <a16:creationId xmlns:a16="http://schemas.microsoft.com/office/drawing/2014/main" id="{FD7835BE-9B3C-26AF-B593-080A35E0C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45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01EA12-94DA-65EF-9A68-45746988B934}"/>
              </a:ext>
            </a:extLst>
          </p:cNvPr>
          <p:cNvSpPr txBox="1"/>
          <p:nvPr/>
        </p:nvSpPr>
        <p:spPr>
          <a:xfrm>
            <a:off x="746312" y="799308"/>
            <a:ext cx="5684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/>
              <a:t>Dataset Description: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72F2D-DF86-5174-7191-0D6F433E0EE5}"/>
              </a:ext>
            </a:extLst>
          </p:cNvPr>
          <p:cNvSpPr txBox="1"/>
          <p:nvPr/>
        </p:nvSpPr>
        <p:spPr>
          <a:xfrm>
            <a:off x="746312" y="1322528"/>
            <a:ext cx="1038594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/>
              <a:t>1.SciEntsBank Dataset:</a:t>
            </a:r>
            <a:endParaRPr 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E2D18B-CF87-D095-856E-8AF323088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753" y="2727512"/>
            <a:ext cx="5929592" cy="8359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DCD4C6-7E88-2464-E627-BD27DE685B14}"/>
              </a:ext>
            </a:extLst>
          </p:cNvPr>
          <p:cNvSpPr txBox="1"/>
          <p:nvPr/>
        </p:nvSpPr>
        <p:spPr>
          <a:xfrm>
            <a:off x="751580" y="1693483"/>
            <a:ext cx="1130449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 A collection of graded answers to specific scientific que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stions.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To test and improve the model's performance in a technical, ac</a:t>
            </a:r>
            <a:r>
              <a:rPr lang="en-US">
                <a:ea typeface="+mn-lt"/>
                <a:cs typeface="+mn-lt"/>
              </a:rPr>
              <a:t>ademic domain.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 It ensures our model is not limited to just essays and can accurately evaluate fact-based scientific responses.</a:t>
            </a:r>
            <a:endParaRPr lang="en-US"/>
          </a:p>
          <a:p>
            <a:pPr algn="l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6811B4-8E12-F35F-704E-DB633FFFA3E3}"/>
              </a:ext>
            </a:extLst>
          </p:cNvPr>
          <p:cNvSpPr txBox="1"/>
          <p:nvPr/>
        </p:nvSpPr>
        <p:spPr>
          <a:xfrm>
            <a:off x="750794" y="3765177"/>
            <a:ext cx="10466293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2. Mohler &amp; Mihalcea Dataset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 dataset of student answers to computer science questions.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To add further technical diversity to our training data.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 This trains the model to correctly evaluate highly technical, fact-based answers, making it more flexible.</a:t>
            </a:r>
          </a:p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8437F8-EB03-ABF0-0A8D-551595BE8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5" y="5058615"/>
            <a:ext cx="8477250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0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B1EDF-090B-757E-F63D-6B9016A43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0" y="1201237"/>
            <a:ext cx="10758500" cy="24736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283210" indent="-283210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ea typeface="+mn-lt"/>
                <a:cs typeface="+mn-lt"/>
              </a:rPr>
              <a:t>A core NLP dataset containing pairs of sentences, each with a human-rated similarity score (from 0 to 5).</a:t>
            </a:r>
            <a:endParaRPr lang="en-US" sz="1800"/>
          </a:p>
          <a:p>
            <a:pPr marL="283210" indent="-283210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ea typeface="+mn-lt"/>
                <a:cs typeface="+mn-lt"/>
              </a:rPr>
              <a:t>This dataset is crucial for teaching our model the concept of "semantic meaning."</a:t>
            </a:r>
            <a:endParaRPr lang="en-US" sz="1800"/>
          </a:p>
          <a:p>
            <a:pPr marL="283210" indent="-283210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ea typeface="+mn-lt"/>
                <a:cs typeface="+mn-lt"/>
              </a:rPr>
              <a:t>It directly improves the model's fundamental ability to understand </a:t>
            </a:r>
            <a:r>
              <a:rPr lang="en-US" sz="1800" b="1">
                <a:ea typeface="+mn-lt"/>
                <a:cs typeface="+mn-lt"/>
              </a:rPr>
              <a:t>semantic similarity</a:t>
            </a:r>
            <a:r>
              <a:rPr lang="en-US" sz="1800">
                <a:ea typeface="+mn-lt"/>
                <a:cs typeface="+mn-lt"/>
              </a:rPr>
              <a:t>—its ability to know when two different sentences mean the same thing. This is essential for our "Comparison Grader."</a:t>
            </a:r>
            <a:endParaRPr lang="en-US" sz="1800"/>
          </a:p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D0856D-E374-E56C-D48A-AE793554A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122" y="2933063"/>
            <a:ext cx="5837042" cy="13877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EBF87E-329A-1D7C-6668-7FF74C938418}"/>
              </a:ext>
            </a:extLst>
          </p:cNvPr>
          <p:cNvSpPr txBox="1"/>
          <p:nvPr/>
        </p:nvSpPr>
        <p:spPr>
          <a:xfrm>
            <a:off x="750794" y="4626603"/>
            <a:ext cx="10757645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2000"/>
              <a:t>We use multiple datasets covering essays, scientific explanations, computer-science answers, and semantic similarity tasks to ensure broad coverage of different answer types.</a:t>
            </a:r>
          </a:p>
          <a:p>
            <a:pPr marL="285750" indent="-285750">
              <a:buFont typeface="Wingdings"/>
              <a:buChar char="Ø"/>
            </a:pPr>
            <a:r>
              <a:rPr lang="en-US" sz="2000">
                <a:ea typeface="+mn-lt"/>
                <a:cs typeface="+mn-lt"/>
              </a:rPr>
              <a:t>This multi-domain setup ensures the model performs well across different subjects and answer types.</a:t>
            </a:r>
            <a:endParaRPr lang="en-US" sz="2000"/>
          </a:p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919BD-EA6D-0621-FD5F-2ABAC87837E4}"/>
              </a:ext>
            </a:extLst>
          </p:cNvPr>
          <p:cNvSpPr txBox="1"/>
          <p:nvPr/>
        </p:nvSpPr>
        <p:spPr>
          <a:xfrm>
            <a:off x="748145" y="1046018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>
                <a:latin typeface="Calisto MT"/>
              </a:rPr>
              <a:t>3.  STS Benchmark Dataset</a:t>
            </a:r>
            <a:endParaRPr lang="en-US" sz="200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7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B224D-299C-32C8-5C2E-56ED2C06F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US" b="1"/>
              <a:t>Data Pre Processing:</a:t>
            </a:r>
          </a:p>
        </p:txBody>
      </p:sp>
      <p:pic>
        <p:nvPicPr>
          <p:cNvPr id="30" name="Picture 29" descr="Angled shot of pen on a graph">
            <a:extLst>
              <a:ext uri="{FF2B5EF4-FFF2-40B4-BE49-F238E27FC236}">
                <a16:creationId xmlns:a16="http://schemas.microsoft.com/office/drawing/2014/main" id="{8B5858DA-6534-3077-F611-70E84C9B9F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88" r="49188" b="-4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402729C-6094-985B-2580-9E9E3D190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1901732"/>
            <a:ext cx="6412903" cy="460367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900" b="1">
                <a:ea typeface="+mn-lt"/>
                <a:cs typeface="+mn-lt"/>
              </a:rPr>
              <a:t>Data Cleaning:</a:t>
            </a:r>
            <a:r>
              <a:rPr lang="en-US" sz="1900">
                <a:ea typeface="+mn-lt"/>
                <a:cs typeface="+mn-lt"/>
              </a:rPr>
              <a:t> Drop rows with missing answers or scores and standardize all text to a clean format.</a:t>
            </a:r>
            <a:endParaRPr lang="en-US" sz="1900"/>
          </a:p>
          <a:p>
            <a:r>
              <a:rPr lang="en-US" b="1"/>
              <a:t>Baseline Model Preprocessing:</a:t>
            </a:r>
            <a:r>
              <a:rPr lang="en-US" b="1">
                <a:ea typeface="+mn-lt"/>
                <a:cs typeface="+mn-lt"/>
              </a:rPr>
              <a:t> </a:t>
            </a:r>
            <a:r>
              <a:rPr lang="en-US" sz="1900">
                <a:ea typeface="+mn-lt"/>
                <a:cs typeface="+mn-lt"/>
              </a:rPr>
              <a:t>For our baseline models we performed traditional NLP cleaning: converting text to lowercase, removing all punctuation, and stripping common "stop words".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sz="1900" b="1">
                <a:ea typeface="+mn-lt"/>
                <a:cs typeface="+mn-lt"/>
              </a:rPr>
              <a:t>Score Normalization:</a:t>
            </a:r>
            <a:r>
              <a:rPr lang="en-US" sz="1900">
                <a:ea typeface="+mn-lt"/>
                <a:cs typeface="+mn-lt"/>
              </a:rPr>
              <a:t> Convert all scores to a standard 0.0 to 1.0 scale for consistent model training.</a:t>
            </a:r>
            <a:endParaRPr lang="en-US" sz="1900"/>
          </a:p>
          <a:p>
            <a:pPr>
              <a:lnSpc>
                <a:spcPct val="100000"/>
              </a:lnSpc>
            </a:pPr>
            <a:r>
              <a:rPr lang="en-US" sz="1900" b="1">
                <a:ea typeface="+mn-lt"/>
                <a:cs typeface="+mn-lt"/>
              </a:rPr>
              <a:t>Data Splitting:</a:t>
            </a:r>
            <a:r>
              <a:rPr lang="en-US" sz="1900">
                <a:ea typeface="+mn-lt"/>
                <a:cs typeface="+mn-lt"/>
              </a:rPr>
              <a:t> Divide data into 85% Training and 15% Validation sets.</a:t>
            </a:r>
            <a:endParaRPr lang="en-US" sz="1900"/>
          </a:p>
          <a:p>
            <a:pPr>
              <a:lnSpc>
                <a:spcPct val="100000"/>
              </a:lnSpc>
            </a:pPr>
            <a:r>
              <a:rPr lang="en-US" sz="1900" b="1">
                <a:ea typeface="+mn-lt"/>
                <a:cs typeface="+mn-lt"/>
              </a:rPr>
              <a:t>Tokenization:</a:t>
            </a:r>
            <a:r>
              <a:rPr lang="en-US" sz="1900">
                <a:ea typeface="+mn-lt"/>
                <a:cs typeface="+mn-lt"/>
              </a:rPr>
              <a:t> Use a </a:t>
            </a:r>
            <a:r>
              <a:rPr lang="en-US" sz="1900" err="1">
                <a:ea typeface="+mn-lt"/>
                <a:cs typeface="+mn-lt"/>
              </a:rPr>
              <a:t>DeBERTa</a:t>
            </a:r>
            <a:r>
              <a:rPr lang="en-US" sz="1900">
                <a:ea typeface="+mn-lt"/>
                <a:cs typeface="+mn-lt"/>
              </a:rPr>
              <a:t> tokenizer to convert text pairs into numerical inputs for the transformer model.</a:t>
            </a:r>
            <a:endParaRPr lang="en-US" sz="1900"/>
          </a:p>
          <a:p>
            <a:pPr>
              <a:lnSpc>
                <a:spcPct val="100000"/>
              </a:lnSpc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46239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857DC-3D1B-0AB9-48CC-E53B00FE7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System Workflow - Flowchart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DBB4019-2CEF-3383-94C2-6BF6DBF3CA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429398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6693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73081-6058-B0B2-ECC6-1CB25BFD1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990600"/>
          </a:xfrm>
        </p:spPr>
        <p:txBody>
          <a:bodyPr>
            <a:normAutofit/>
          </a:bodyPr>
          <a:lstStyle/>
          <a:p>
            <a:r>
              <a:rPr lang="en-US" b="1"/>
              <a:t>Proposed Method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3677F-4AB2-4384-6C35-205051051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04109"/>
            <a:ext cx="10691265" cy="42577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Implemented a </a:t>
            </a:r>
            <a:r>
              <a:rPr lang="en-US" b="1"/>
              <a:t>two-stage short answer grading system</a:t>
            </a:r>
            <a:r>
              <a:rPr lang="en-US"/>
              <a:t>:</a:t>
            </a:r>
          </a:p>
          <a:p>
            <a:pPr lvl="1"/>
            <a:r>
              <a:rPr lang="en-US" b="1"/>
              <a:t>Stage 1:</a:t>
            </a:r>
            <a:r>
              <a:rPr lang="en-US"/>
              <a:t> Baseline semantic + lexical analysis using TF-IDF.</a:t>
            </a:r>
          </a:p>
          <a:p>
            <a:pPr lvl="1"/>
            <a:r>
              <a:rPr lang="en-US" b="1"/>
              <a:t>Stage 2:</a:t>
            </a:r>
            <a:r>
              <a:rPr lang="en-US"/>
              <a:t> Deep contextual semantic understanding using </a:t>
            </a:r>
            <a:r>
              <a:rPr lang="en-US" b="1"/>
              <a:t>DeBERTa Cross-Encoder</a:t>
            </a:r>
            <a:r>
              <a:rPr lang="en-US"/>
              <a:t>.</a:t>
            </a:r>
          </a:p>
          <a:p>
            <a:r>
              <a:rPr lang="en-US"/>
              <a:t>Each student answer is compared with reference answer and scored semantically.</a:t>
            </a:r>
          </a:p>
          <a:p>
            <a:r>
              <a:rPr lang="en-US"/>
              <a:t>Final score determined using </a:t>
            </a:r>
            <a:r>
              <a:rPr lang="en-US" b="1"/>
              <a:t>regression on semantic similarity signals</a:t>
            </a:r>
            <a:r>
              <a:rPr lang="en-US"/>
              <a:t>.</a:t>
            </a:r>
          </a:p>
          <a:p>
            <a:r>
              <a:rPr lang="en-US"/>
              <a:t>Improves accuracy on:</a:t>
            </a:r>
          </a:p>
          <a:p>
            <a:pPr lvl="1"/>
            <a:r>
              <a:rPr lang="en-US"/>
              <a:t>Paraphrased answers</a:t>
            </a:r>
          </a:p>
          <a:p>
            <a:pPr lvl="1"/>
            <a:r>
              <a:rPr lang="en-US"/>
              <a:t>Domain-shift datasets</a:t>
            </a:r>
          </a:p>
          <a:p>
            <a:pPr lvl="1"/>
            <a:r>
              <a:rPr lang="en-US"/>
              <a:t>Partial/incomplete responses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137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4DE4CFE-434C-3C46-C90F-EB02AD286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27" y="1853233"/>
            <a:ext cx="3306747" cy="3191406"/>
          </a:xfrm>
        </p:spPr>
        <p:txBody>
          <a:bodyPr>
            <a:normAutofit/>
          </a:bodyPr>
          <a:lstStyle/>
          <a:p>
            <a:r>
              <a:rPr lang="en-IN" sz="3600" b="1"/>
              <a:t>Baseline Model Algorithm (TF-IDF + Ridge Regression)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A05E6817-8857-BC44-5B81-A5A321112E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57204" y="1217805"/>
            <a:ext cx="7271173" cy="442239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Preprocess all answers (cleaning + tokenization).</a:t>
            </a:r>
          </a:p>
          <a:p>
            <a:pPr marL="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Convert answers to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TF-IDF vectors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.</a:t>
            </a:r>
          </a:p>
          <a:p>
            <a:pPr marL="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Compute:</a:t>
            </a:r>
          </a:p>
          <a:p>
            <a:pPr marL="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Cosine similarity between teacher &amp; student answers.</a:t>
            </a:r>
          </a:p>
          <a:p>
            <a:pPr marL="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Length and lexical difference features.</a:t>
            </a:r>
          </a:p>
          <a:p>
            <a:pPr marL="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Combine features into structured matrix.</a:t>
            </a:r>
          </a:p>
          <a:p>
            <a:pPr marL="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Train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Ridge Regression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 model to map features → score.</a:t>
            </a:r>
          </a:p>
          <a:p>
            <a:pPr marL="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Evaluate using MSE &amp; QWK.</a:t>
            </a:r>
          </a:p>
          <a:p>
            <a:pPr marL="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Acts as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benchmark to compare advanced model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sto MT" panose="02040603050505030304" pitchFamily="18" charset="0"/>
              </a:rPr>
              <a:t>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873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D64D2-6088-C432-6F62-DFD2E946E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98" y="1448382"/>
            <a:ext cx="3306747" cy="4001108"/>
          </a:xfrm>
        </p:spPr>
        <p:txBody>
          <a:bodyPr>
            <a:normAutofit/>
          </a:bodyPr>
          <a:lstStyle/>
          <a:p>
            <a:r>
              <a:rPr lang="en-US" sz="3600" b="1"/>
              <a:t>Advanced Model Algorithm (BERT Fine-Tuned Cross-Encoder)</a:t>
            </a:r>
            <a:endParaRPr lang="en-IN" sz="3600" b="1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8EBF70-D39A-E4AF-19DC-883B1A571F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35785" y="1142169"/>
            <a:ext cx="6988666" cy="46135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cs typeface="Arial"/>
              </a:rPr>
              <a:t>   Load pre-trained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cs typeface="Arial"/>
              </a:rPr>
              <a:t>BERT-base</a:t>
            </a:r>
            <a:r>
              <a:rPr lang="en-US" altLang="en-US" sz="2200" b="1" dirty="0">
                <a:cs typeface="Arial"/>
              </a:rPr>
              <a:t>(</a:t>
            </a:r>
            <a:r>
              <a:rPr lang="en-US" altLang="en-US" sz="2200" b="1" dirty="0" err="1">
                <a:cs typeface="Arial"/>
              </a:rPr>
              <a:t>DeBERTa</a:t>
            </a:r>
            <a:r>
              <a:rPr lang="en-US" altLang="en-US" sz="2200" b="1" dirty="0">
                <a:cs typeface="Arial"/>
              </a:rPr>
              <a:t>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cs typeface="Arial"/>
              </a:rPr>
              <a:t> model.</a:t>
            </a:r>
            <a:endParaRPr lang="en-US" altLang="en-US" sz="2200" b="0" i="0" u="none" strike="noStrike" cap="none" normalizeH="0" baseline="0" dirty="0">
              <a:ln>
                <a:noFill/>
              </a:ln>
              <a:effectLst/>
              <a:cs typeface="Arial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cs typeface="Arial"/>
              </a:rPr>
              <a:t>   Pair inputs: </a:t>
            </a:r>
            <a:r>
              <a:rPr lang="en-US" altLang="en-US" sz="2200" dirty="0" err="1"/>
              <a:t>teacher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</a:rPr>
              <a:t>_answer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lang="en-US" altLang="en-US" sz="2200" dirty="0"/>
              <a:t>and </a:t>
            </a:r>
            <a:r>
              <a:rPr lang="en-US" altLang="en-US" sz="2200" dirty="0" err="1"/>
              <a:t>student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</a:rPr>
              <a:t>_answer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lang="en-US" altLang="en-US" sz="2200" dirty="0"/>
              <a:t>pair</a:t>
            </a:r>
            <a:endParaRPr lang="en-US" altLang="en-US" sz="2200" b="0" i="0" u="none" strike="noStrike" cap="none" normalizeH="0" baseline="0" dirty="0">
              <a:ln>
                <a:noFill/>
              </a:ln>
              <a:effectLst/>
              <a:ea typeface="Arial Unicode MS"/>
              <a:cs typeface="Arial Unicode MS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cs typeface="Arial"/>
              </a:rPr>
              <a:t>   Tokenize using BERT tokenizer.</a:t>
            </a:r>
            <a:endParaRPr lang="en-US" altLang="en-US" sz="2200" b="0" i="0" u="none" strike="noStrike" cap="none" normalizeH="0" baseline="0" dirty="0">
              <a:ln>
                <a:noFill/>
              </a:ln>
              <a:effectLst/>
              <a:cs typeface="Arial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cs typeface="Arial"/>
              </a:rPr>
              <a:t>  </a:t>
            </a:r>
            <a:r>
              <a:rPr lang="en-US" altLang="en-US" sz="2200" dirty="0">
                <a:cs typeface="Arial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cs typeface="Arial"/>
              </a:rPr>
              <a:t>Fine-tune BERT on combined short-answer datasets.</a:t>
            </a:r>
            <a:endParaRPr lang="en-US" altLang="en-US" sz="2200" b="0" i="0" u="none" strike="noStrike" cap="none" normalizeH="0" baseline="0" dirty="0">
              <a:ln>
                <a:noFill/>
              </a:ln>
              <a:effectLst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cs typeface="Arial"/>
              </a:rPr>
              <a:t>   Train regression head to predict continuous score.</a:t>
            </a:r>
            <a:endParaRPr lang="en-US" altLang="en-US" sz="2200" b="0" i="0" u="none" strike="noStrike" cap="none" normalizeH="0" baseline="0" dirty="0">
              <a:ln>
                <a:noFill/>
              </a:ln>
              <a:effectLst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cs typeface="Arial"/>
              </a:rPr>
              <a:t>   Model learns:</a:t>
            </a:r>
            <a:endParaRPr lang="en-US" altLang="en-US" sz="2200" b="1" i="0" u="none" strike="noStrike" cap="none" normalizeH="0" baseline="0" dirty="0">
              <a:ln>
                <a:noFill/>
              </a:ln>
              <a:effectLst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cs typeface="Arial"/>
              </a:rPr>
              <a:t>      1. Semantic relationships</a:t>
            </a:r>
            <a:endParaRPr lang="en-US" altLang="en-US" sz="2200" b="0" i="0" u="none" strike="noStrike" cap="none" normalizeH="0" baseline="0" dirty="0">
              <a:ln>
                <a:noFill/>
              </a:ln>
              <a:effectLst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cs typeface="Arial"/>
              </a:rPr>
              <a:t>      2. Contextual meaning</a:t>
            </a:r>
            <a:endParaRPr lang="en-US" altLang="en-US" sz="2200" b="0" i="0" u="none" strike="noStrike" cap="none" normalizeH="0" baseline="0" dirty="0">
              <a:ln>
                <a:noFill/>
              </a:ln>
              <a:effectLst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cs typeface="Arial"/>
              </a:rPr>
              <a:t>      3. Paraphrasing</a:t>
            </a:r>
            <a:endParaRPr lang="en-US" altLang="en-US" sz="2200" b="0" i="0" u="none" strike="noStrike" cap="none" normalizeH="0" baseline="0" dirty="0">
              <a:ln>
                <a:noFill/>
              </a:ln>
              <a:effectLst/>
              <a:cs typeface="Arial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cs typeface="Arial"/>
              </a:rPr>
              <a:t>   Evaluate using MSE &amp; QWK</a:t>
            </a:r>
            <a:endParaRPr lang="en-US" altLang="en-US" sz="2200" b="0" i="0" u="none" strike="noStrike" cap="none" normalizeH="0" baseline="0" dirty="0">
              <a:ln>
                <a:noFill/>
              </a:ln>
              <a:effectLst/>
              <a:cs typeface="Arial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768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1000">
              <a:srgbClr val="8CB1D3"/>
            </a:gs>
            <a:gs pos="25000">
              <a:schemeClr val="bg1"/>
            </a:gs>
            <a:gs pos="100000">
              <a:srgbClr val="00539D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6F5CBD29-1C31-F2C0-22FC-799B2A900A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047422"/>
              </p:ext>
            </p:extLst>
          </p:nvPr>
        </p:nvGraphicFramePr>
        <p:xfrm>
          <a:off x="700088" y="1510148"/>
          <a:ext cx="10691812" cy="4452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DC840C4-B177-16D7-C97C-166D9A074DA0}"/>
              </a:ext>
            </a:extLst>
          </p:cNvPr>
          <p:cNvSpPr txBox="1"/>
          <p:nvPr/>
        </p:nvSpPr>
        <p:spPr>
          <a:xfrm>
            <a:off x="700088" y="976074"/>
            <a:ext cx="829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/>
              <a:t>System Architecture:</a:t>
            </a:r>
          </a:p>
        </p:txBody>
      </p:sp>
    </p:spTree>
    <p:extLst>
      <p:ext uri="{BB962C8B-B14F-4D97-AF65-F5344CB8AC3E}">
        <p14:creationId xmlns:p14="http://schemas.microsoft.com/office/powerpoint/2010/main" val="1841485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695F35-4B98-A092-F28D-F32C0A8BE1F6}"/>
              </a:ext>
            </a:extLst>
          </p:cNvPr>
          <p:cNvSpPr txBox="1"/>
          <p:nvPr/>
        </p:nvSpPr>
        <p:spPr>
          <a:xfrm>
            <a:off x="787368" y="803713"/>
            <a:ext cx="542957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ea typeface="+mn-lt"/>
                <a:cs typeface="+mn-lt"/>
              </a:rPr>
              <a:t>Evaluation Metrics:</a:t>
            </a:r>
            <a:endParaRPr lang="en-US" sz="32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AF34E-D2C8-288E-920A-716752DC43D0}"/>
              </a:ext>
            </a:extLst>
          </p:cNvPr>
          <p:cNvSpPr txBox="1"/>
          <p:nvPr/>
        </p:nvSpPr>
        <p:spPr>
          <a:xfrm>
            <a:off x="781038" y="1720474"/>
            <a:ext cx="513252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Quadratic Weighted Kappa (QWK)</a:t>
            </a:r>
            <a:endParaRPr lang="en-US" sz="2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CD5D6F-A42E-B098-CA27-94EE2FE11BF6}"/>
              </a:ext>
            </a:extLst>
          </p:cNvPr>
          <p:cNvSpPr txBox="1"/>
          <p:nvPr/>
        </p:nvSpPr>
        <p:spPr>
          <a:xfrm>
            <a:off x="800421" y="2337011"/>
            <a:ext cx="530041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Measures how closely the model’s scores agree with human graders, while penalizing larger mistakes more heavily.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Ideal for </a:t>
            </a:r>
            <a:r>
              <a:rPr lang="en-US" b="1">
                <a:ea typeface="+mn-lt"/>
                <a:cs typeface="+mn-lt"/>
              </a:rPr>
              <a:t>ordinal scoring tasks</a:t>
            </a:r>
            <a:r>
              <a:rPr lang="en-US">
                <a:ea typeface="+mn-lt"/>
                <a:cs typeface="+mn-lt"/>
              </a:rPr>
              <a:t> like short-answer grading.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5AB5555-A7C2-3A4E-4BEE-A1879E5F56EB}"/>
                  </a:ext>
                </a:extLst>
              </p14:cNvPr>
              <p14:cNvContentPartPr/>
              <p14:nvPr/>
            </p14:nvContentPartPr>
            <p14:xfrm>
              <a:off x="6303488" y="1683639"/>
              <a:ext cx="16144" cy="4250114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5AB5555-A7C2-3A4E-4BEE-A1879E5F56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96288" y="1665641"/>
                <a:ext cx="1614400" cy="42857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8D472D2-07C5-FA52-7EC2-9D35C436A3C7}"/>
                  </a:ext>
                </a:extLst>
              </p14:cNvPr>
              <p14:cNvContentPartPr/>
              <p14:nvPr/>
            </p14:nvContentPartPr>
            <p14:xfrm>
              <a:off x="14471542" y="2970508"/>
              <a:ext cx="16144" cy="16144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8D472D2-07C5-FA52-7EC2-9D35C436A3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64342" y="2163308"/>
                <a:ext cx="1614400" cy="16144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54FF62D-1B54-F70F-BAE8-7FE9A8D3261F}"/>
              </a:ext>
            </a:extLst>
          </p:cNvPr>
          <p:cNvSpPr txBox="1"/>
          <p:nvPr/>
        </p:nvSpPr>
        <p:spPr>
          <a:xfrm>
            <a:off x="6860398" y="1691861"/>
            <a:ext cx="411221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Mean Squared Error (MSE)</a:t>
            </a:r>
            <a:endParaRPr lang="en-US" sz="20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EA8926-6DE2-C799-B1A2-691027D78F06}"/>
              </a:ext>
            </a:extLst>
          </p:cNvPr>
          <p:cNvSpPr txBox="1"/>
          <p:nvPr/>
        </p:nvSpPr>
        <p:spPr>
          <a:xfrm>
            <a:off x="6522281" y="2337011"/>
            <a:ext cx="495196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Measures how far predictions are from true  </a:t>
            </a:r>
          </a:p>
          <a:p>
            <a:r>
              <a:rPr lang="en-US">
                <a:ea typeface="+mn-lt"/>
                <a:cs typeface="+mn-lt"/>
              </a:rPr>
              <a:t>     scores numerically.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Provides a simple, continuous measure of     </a:t>
            </a:r>
          </a:p>
          <a:p>
            <a:r>
              <a:rPr lang="en-US">
                <a:ea typeface="+mn-lt"/>
                <a:cs typeface="+mn-lt"/>
              </a:rPr>
              <a:t>     prediction accuracy.</a:t>
            </a:r>
            <a:endParaRPr lang="en-US"/>
          </a:p>
          <a:p>
            <a:pPr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pic>
        <p:nvPicPr>
          <p:cNvPr id="5" name="Picture 4" descr="A black background with numbers&#10;&#10;AI-generated content may be incorrect.">
            <a:extLst>
              <a:ext uri="{FF2B5EF4-FFF2-40B4-BE49-F238E27FC236}">
                <a16:creationId xmlns:a16="http://schemas.microsoft.com/office/drawing/2014/main" id="{CE4D0C88-EBDC-F27E-51D2-FFE11147E0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4967" y="3808696"/>
            <a:ext cx="2952750" cy="952500"/>
          </a:xfrm>
          <a:prstGeom prst="rect">
            <a:avLst/>
          </a:prstGeom>
        </p:spPr>
      </p:pic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FCBBDA7-E2AE-56CF-5C3F-5BDB07B56F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421" y="4761481"/>
            <a:ext cx="5553075" cy="1114425"/>
          </a:xfrm>
          <a:prstGeom prst="rect">
            <a:avLst/>
          </a:prstGeom>
        </p:spPr>
      </p:pic>
      <p:pic>
        <p:nvPicPr>
          <p:cNvPr id="15" name="Picture 14" descr="A black background with numbers and symbols&#10;&#10;AI-generated content may be incorrect.">
            <a:extLst>
              <a:ext uri="{FF2B5EF4-FFF2-40B4-BE49-F238E27FC236}">
                <a16:creationId xmlns:a16="http://schemas.microsoft.com/office/drawing/2014/main" id="{2C32348A-D5FF-C9AB-2745-9E3AEDCA95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0398" y="3741955"/>
            <a:ext cx="2905125" cy="1019175"/>
          </a:xfrm>
          <a:prstGeom prst="rect">
            <a:avLst/>
          </a:prstGeom>
        </p:spPr>
      </p:pic>
      <p:pic>
        <p:nvPicPr>
          <p:cNvPr id="16" name="Picture 15" descr="A black background with blue and red text&#10;&#10;AI-generated content may be incorrect.">
            <a:extLst>
              <a:ext uri="{FF2B5EF4-FFF2-40B4-BE49-F238E27FC236}">
                <a16:creationId xmlns:a16="http://schemas.microsoft.com/office/drawing/2014/main" id="{A6FC2BB5-8D56-8AF8-D437-1C668864BF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3830" y="4909118"/>
            <a:ext cx="23526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99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B2A459-FB0B-3E81-FC9C-8DC1006ABE06}"/>
              </a:ext>
            </a:extLst>
          </p:cNvPr>
          <p:cNvSpPr txBox="1"/>
          <p:nvPr/>
        </p:nvSpPr>
        <p:spPr>
          <a:xfrm>
            <a:off x="750961" y="1007208"/>
            <a:ext cx="769142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Results and Key Observation: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AD8214-86E3-2112-C772-F264C4E8B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865178"/>
              </p:ext>
            </p:extLst>
          </p:nvPr>
        </p:nvGraphicFramePr>
        <p:xfrm>
          <a:off x="557842" y="1982579"/>
          <a:ext cx="11076316" cy="3404559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2769079">
                  <a:extLst>
                    <a:ext uri="{9D8B030D-6E8A-4147-A177-3AD203B41FA5}">
                      <a16:colId xmlns:a16="http://schemas.microsoft.com/office/drawing/2014/main" val="3175795482"/>
                    </a:ext>
                  </a:extLst>
                </a:gridCol>
                <a:gridCol w="2769079">
                  <a:extLst>
                    <a:ext uri="{9D8B030D-6E8A-4147-A177-3AD203B41FA5}">
                      <a16:colId xmlns:a16="http://schemas.microsoft.com/office/drawing/2014/main" val="3580152718"/>
                    </a:ext>
                  </a:extLst>
                </a:gridCol>
                <a:gridCol w="1813651">
                  <a:extLst>
                    <a:ext uri="{9D8B030D-6E8A-4147-A177-3AD203B41FA5}">
                      <a16:colId xmlns:a16="http://schemas.microsoft.com/office/drawing/2014/main" val="536793495"/>
                    </a:ext>
                  </a:extLst>
                </a:gridCol>
                <a:gridCol w="3724507">
                  <a:extLst>
                    <a:ext uri="{9D8B030D-6E8A-4147-A177-3AD203B41FA5}">
                      <a16:colId xmlns:a16="http://schemas.microsoft.com/office/drawing/2014/main" val="3384235819"/>
                    </a:ext>
                  </a:extLst>
                </a:gridCol>
              </a:tblGrid>
              <a:tr h="544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QWK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Observation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755808"/>
                  </a:ext>
                </a:extLst>
              </a:tr>
              <a:tr h="953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Traditional TF-IDF / Ridge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    0.89(High)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Only keyword matching; poor semantic understanding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9639315"/>
                  </a:ext>
                </a:extLst>
              </a:tr>
              <a:tr h="95327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sto MT"/>
                        </a:rPr>
                        <a:t>BERT-Based Direct Scoring Model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 0.48 (Moderate)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 for known prompts, weak for unseen 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438133"/>
                  </a:ext>
                </a:extLst>
              </a:tr>
              <a:tr h="953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DeBERTa Cross-Encoder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 0.756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/>
                        <a:t>  0.31(Lowest)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Best semantic understanding; works on new questions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3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558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B74B9C-E224-FA5F-F964-2B3634F53AD3}"/>
              </a:ext>
            </a:extLst>
          </p:cNvPr>
          <p:cNvSpPr txBox="1"/>
          <p:nvPr/>
        </p:nvSpPr>
        <p:spPr>
          <a:xfrm>
            <a:off x="721928" y="1389546"/>
            <a:ext cx="10748144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rtl="0">
              <a:buFont typeface=""/>
              <a:buChar char="•"/>
            </a:pPr>
            <a:r>
              <a:rPr lang="en-US" sz="2000" baseline="0">
                <a:latin typeface="Calisto MT"/>
                <a:ea typeface="Arial"/>
                <a:cs typeface="Arial"/>
              </a:rPr>
              <a:t>We built a </a:t>
            </a:r>
            <a:r>
              <a:rPr lang="en-US" sz="2000" b="1" baseline="0">
                <a:latin typeface="Calisto MT"/>
                <a:ea typeface="Arial"/>
                <a:cs typeface="Arial"/>
              </a:rPr>
              <a:t>high-accuracy, reliable short answer grading system</a:t>
            </a:r>
            <a:r>
              <a:rPr lang="en-US" sz="2000" baseline="0">
                <a:latin typeface="Calisto MT"/>
                <a:ea typeface="Arial"/>
                <a:cs typeface="Arial"/>
              </a:rPr>
              <a:t> using NLP.</a:t>
            </a:r>
            <a:r>
              <a:rPr lang="en-US" sz="2000">
                <a:latin typeface="Calisto MT"/>
                <a:ea typeface="Arial"/>
                <a:cs typeface="Arial"/>
              </a:rPr>
              <a:t>​</a:t>
            </a:r>
            <a:endParaRPr lang="en-US"/>
          </a:p>
          <a:p>
            <a:pPr marL="228600" indent="-228600">
              <a:buFont typeface=""/>
              <a:buChar char="•"/>
            </a:pPr>
            <a:r>
              <a:rPr lang="en-US" sz="2000" baseline="0">
                <a:latin typeface="Calisto MT"/>
                <a:ea typeface="Arial"/>
                <a:cs typeface="Arial"/>
              </a:rPr>
              <a:t>The </a:t>
            </a:r>
            <a:r>
              <a:rPr lang="en-US" sz="2000" b="1" err="1">
                <a:latin typeface="Calisto MT"/>
                <a:ea typeface="Arial"/>
                <a:cs typeface="Arial"/>
              </a:rPr>
              <a:t>DeBERTa</a:t>
            </a:r>
            <a:r>
              <a:rPr lang="en-US" sz="2000" b="1" baseline="0">
                <a:latin typeface="Calisto MT"/>
                <a:ea typeface="Arial"/>
                <a:cs typeface="Arial"/>
              </a:rPr>
              <a:t> Cross-Encoder</a:t>
            </a:r>
            <a:r>
              <a:rPr lang="en-US" sz="2000" baseline="0">
                <a:latin typeface="Calisto MT"/>
                <a:ea typeface="Arial"/>
                <a:cs typeface="Arial"/>
              </a:rPr>
              <a:t> proved to be the best approach for semantic grading, </a:t>
            </a:r>
            <a:r>
              <a:rPr lang="en-US" sz="2000">
                <a:latin typeface="Calisto MT"/>
                <a:ea typeface="Arial"/>
                <a:cs typeface="Arial"/>
              </a:rPr>
              <a:t>achieving a</a:t>
            </a:r>
            <a:r>
              <a:rPr lang="en-US" sz="2000" baseline="0">
                <a:latin typeface="Calisto MT"/>
                <a:ea typeface="Arial"/>
                <a:cs typeface="Arial"/>
              </a:rPr>
              <a:t> strong </a:t>
            </a:r>
            <a:r>
              <a:rPr lang="en-US" sz="2000" b="1" baseline="0">
                <a:latin typeface="Calisto MT"/>
                <a:ea typeface="Arial"/>
                <a:cs typeface="Arial"/>
              </a:rPr>
              <a:t>QWK of 0.756</a:t>
            </a:r>
            <a:r>
              <a:rPr lang="en-US" sz="2000" baseline="0">
                <a:latin typeface="Calisto MT"/>
                <a:ea typeface="Arial"/>
                <a:cs typeface="Arial"/>
              </a:rPr>
              <a:t>.</a:t>
            </a:r>
            <a:r>
              <a:rPr lang="en-US" sz="2000">
                <a:latin typeface="Calisto MT"/>
                <a:ea typeface="Arial"/>
                <a:cs typeface="Arial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000" baseline="0">
                <a:latin typeface="Calisto MT"/>
                <a:ea typeface="Arial"/>
                <a:cs typeface="Arial"/>
              </a:rPr>
              <a:t>The model can evaluate answers based on </a:t>
            </a:r>
            <a:r>
              <a:rPr lang="en-US" sz="2000" b="1" baseline="0">
                <a:latin typeface="Calisto MT"/>
                <a:ea typeface="Arial"/>
                <a:cs typeface="Arial"/>
              </a:rPr>
              <a:t>meaning</a:t>
            </a:r>
            <a:r>
              <a:rPr lang="en-US" sz="2000" baseline="0">
                <a:latin typeface="Calisto MT"/>
                <a:ea typeface="Arial"/>
                <a:cs typeface="Arial"/>
              </a:rPr>
              <a:t>, not just keyword overlap, making it </a:t>
            </a:r>
            <a:r>
              <a:rPr lang="en-US" sz="2000">
                <a:latin typeface="Calisto MT"/>
                <a:ea typeface="Arial"/>
                <a:cs typeface="Arial"/>
              </a:rPr>
              <a:t>more consistent</a:t>
            </a:r>
            <a:r>
              <a:rPr lang="en-US" sz="2000" baseline="0">
                <a:latin typeface="Calisto MT"/>
                <a:ea typeface="Arial"/>
                <a:cs typeface="Arial"/>
              </a:rPr>
              <a:t> and scalable than manual grading.</a:t>
            </a:r>
            <a:r>
              <a:rPr lang="en-US" sz="2000">
                <a:latin typeface="Calisto MT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000" baseline="0">
                <a:latin typeface="Calisto MT"/>
                <a:ea typeface="Arial"/>
                <a:cs typeface="Arial"/>
              </a:rPr>
              <a:t>This system offers a practical solution to slow, inconsistent human grading.</a:t>
            </a:r>
            <a:r>
              <a:rPr lang="en-US" sz="2000">
                <a:latin typeface="Calisto MT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0CB21-4DDC-54CF-9080-A8007146F718}"/>
              </a:ext>
            </a:extLst>
          </p:cNvPr>
          <p:cNvSpPr txBox="1"/>
          <p:nvPr/>
        </p:nvSpPr>
        <p:spPr>
          <a:xfrm>
            <a:off x="915320" y="3918268"/>
            <a:ext cx="10737706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>
                <a:latin typeface="Calisto MT"/>
                <a:ea typeface="Segoe UI"/>
                <a:cs typeface="Segoe UI"/>
              </a:rPr>
              <a:t>Deployment:</a:t>
            </a:r>
            <a:r>
              <a:rPr lang="en-US" sz="2000" baseline="0">
                <a:latin typeface="Calisto MT"/>
                <a:ea typeface="Segoe UI"/>
                <a:cs typeface="Segoe UI"/>
              </a:rPr>
              <a:t> Build a simple web application where teachers upload answers and get </a:t>
            </a:r>
            <a:r>
              <a:rPr lang="en-US" sz="2000">
                <a:latin typeface="Calisto MT"/>
                <a:ea typeface="Segoe UI"/>
                <a:cs typeface="Segoe UI"/>
              </a:rPr>
              <a:t>        instant grades</a:t>
            </a:r>
            <a:r>
              <a:rPr lang="en-US" sz="2000" baseline="0">
                <a:latin typeface="Calisto MT"/>
                <a:ea typeface="Segoe UI"/>
                <a:cs typeface="Segoe UI"/>
              </a:rPr>
              <a:t>.</a:t>
            </a:r>
            <a:r>
              <a:rPr lang="en-US" sz="2000">
                <a:latin typeface="Calisto MT"/>
                <a:ea typeface="Segoe UI"/>
                <a:cs typeface="Segoe UI"/>
              </a:rPr>
              <a:t>​</a:t>
            </a:r>
            <a:endParaRPr lang="en-US">
              <a:latin typeface="Calisto MT"/>
              <a:ea typeface="Segoe UI"/>
              <a:cs typeface="Arial"/>
            </a:endParaRPr>
          </a:p>
          <a:p>
            <a:r>
              <a:rPr lang="en-US" sz="2000" b="1" baseline="0">
                <a:latin typeface="Calisto MT"/>
                <a:ea typeface="Arial"/>
                <a:cs typeface="Arial"/>
              </a:rPr>
              <a:t>Complete Data Pipeline:</a:t>
            </a:r>
            <a:r>
              <a:rPr lang="en-US" sz="2000" baseline="0">
                <a:latin typeface="Calisto MT"/>
                <a:ea typeface="Arial"/>
                <a:cs typeface="Arial"/>
              </a:rPr>
              <a:t> Add automatic text extraction from </a:t>
            </a:r>
            <a:r>
              <a:rPr lang="en-US" sz="2000" b="1" baseline="0">
                <a:latin typeface="Calisto MT"/>
                <a:ea typeface="Arial"/>
                <a:cs typeface="Arial"/>
              </a:rPr>
              <a:t>PDF, DOCX</a:t>
            </a:r>
            <a:r>
              <a:rPr lang="en-US" sz="2000" baseline="0">
                <a:latin typeface="Calisto MT"/>
                <a:ea typeface="Arial"/>
                <a:cs typeface="Arial"/>
              </a:rPr>
              <a:t>, and </a:t>
            </a:r>
            <a:r>
              <a:rPr lang="en-US" sz="2000">
                <a:latin typeface="Calisto MT"/>
                <a:ea typeface="Arial"/>
                <a:cs typeface="Arial"/>
              </a:rPr>
              <a:t>hand written image</a:t>
            </a:r>
            <a:r>
              <a:rPr lang="en-US" sz="2000" baseline="0">
                <a:latin typeface="Calisto MT"/>
                <a:ea typeface="Arial"/>
                <a:cs typeface="Arial"/>
              </a:rPr>
              <a:t> files.</a:t>
            </a:r>
            <a:r>
              <a:rPr lang="en-US" sz="2000">
                <a:latin typeface="Calisto MT"/>
                <a:ea typeface="Arial"/>
                <a:cs typeface="Arial"/>
              </a:rPr>
              <a:t>​</a:t>
            </a:r>
            <a:endParaRPr lang="en-US">
              <a:latin typeface="Calisto MT"/>
              <a:ea typeface="Arial"/>
              <a:cs typeface="Arial"/>
            </a:endParaRPr>
          </a:p>
          <a:p>
            <a:r>
              <a:rPr lang="en-US" sz="2000" b="1" baseline="0">
                <a:latin typeface="Calisto MT"/>
                <a:ea typeface="Arial"/>
                <a:cs typeface="Arial"/>
              </a:rPr>
              <a:t>Explainable AI:</a:t>
            </a:r>
            <a:r>
              <a:rPr lang="en-US" sz="2000" baseline="0">
                <a:latin typeface="Calisto MT"/>
                <a:ea typeface="Arial"/>
                <a:cs typeface="Arial"/>
              </a:rPr>
              <a:t> Integrate a component that explains </a:t>
            </a:r>
            <a:r>
              <a:rPr lang="en-US" sz="2000" i="1" baseline="0">
                <a:latin typeface="Calisto MT"/>
                <a:ea typeface="Arial"/>
                <a:cs typeface="Arial"/>
              </a:rPr>
              <a:t>why</a:t>
            </a:r>
            <a:r>
              <a:rPr lang="en-US" sz="2000" baseline="0">
                <a:latin typeface="Calisto MT"/>
                <a:ea typeface="Arial"/>
                <a:cs typeface="Arial"/>
              </a:rPr>
              <a:t> a certain score was given, </a:t>
            </a:r>
            <a:r>
              <a:rPr lang="en-US" sz="2000">
                <a:latin typeface="Calisto MT"/>
                <a:ea typeface="Arial"/>
                <a:cs typeface="Arial"/>
              </a:rPr>
              <a:t>helping students</a:t>
            </a:r>
            <a:r>
              <a:rPr lang="en-US" sz="2000" baseline="0">
                <a:latin typeface="Calisto MT"/>
                <a:ea typeface="Arial"/>
                <a:cs typeface="Arial"/>
              </a:rPr>
              <a:t> learn from mistakes.</a:t>
            </a:r>
            <a:endParaRPr lang="en-US" baseline="0">
              <a:latin typeface="Calisto MT"/>
              <a:ea typeface="Arial"/>
              <a:cs typeface="Arial"/>
            </a:endParaRP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9C2A9-508C-1558-339E-6D922A3252C3}"/>
              </a:ext>
            </a:extLst>
          </p:cNvPr>
          <p:cNvSpPr txBox="1"/>
          <p:nvPr/>
        </p:nvSpPr>
        <p:spPr>
          <a:xfrm>
            <a:off x="632847" y="804520"/>
            <a:ext cx="345300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/>
              <a:t>Conclusions: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33F50-BD0B-5466-AFB7-CDA57FA5B21B}"/>
              </a:ext>
            </a:extLst>
          </p:cNvPr>
          <p:cNvSpPr txBox="1"/>
          <p:nvPr/>
        </p:nvSpPr>
        <p:spPr>
          <a:xfrm>
            <a:off x="721928" y="3362157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baseline="0">
                <a:latin typeface="Calisto MT"/>
              </a:rPr>
              <a:t>Future Work</a:t>
            </a:r>
            <a:r>
              <a:rPr lang="en-US" sz="2800" b="1">
                <a:latin typeface="Calisto MT"/>
              </a:rPr>
              <a:t>: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1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3FF9F6-D91F-1B16-FF25-150599EAEBD0}"/>
              </a:ext>
            </a:extLst>
          </p:cNvPr>
          <p:cNvSpPr txBox="1"/>
          <p:nvPr/>
        </p:nvSpPr>
        <p:spPr>
          <a:xfrm>
            <a:off x="766627" y="826586"/>
            <a:ext cx="6824596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ea typeface="+mn-lt"/>
                <a:cs typeface="+mn-lt"/>
              </a:rPr>
              <a:t>REFERENCES</a:t>
            </a:r>
            <a:endParaRPr lang="en-US" sz="3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D51B8-088E-36EB-DD9D-0A77C46D98E3}"/>
              </a:ext>
            </a:extLst>
          </p:cNvPr>
          <p:cNvSpPr txBox="1"/>
          <p:nvPr/>
        </p:nvSpPr>
        <p:spPr>
          <a:xfrm>
            <a:off x="769254" y="1408082"/>
            <a:ext cx="1065547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2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T. K. Landauer, P. W. Foltz, and D. Laham, "An introduction to latent semantic analysis," Discourse processes, vol. 25, no. 2-3, pp. 259-284, 1998.</a:t>
            </a:r>
            <a:r>
              <a:rPr lang="en-US" b="1">
                <a:solidFill>
                  <a:schemeClr val="tx2"/>
                </a:solidFill>
                <a:ea typeface="+mn-lt"/>
                <a:cs typeface="+mn-lt"/>
              </a:rPr>
              <a:t> </a:t>
            </a:r>
            <a:endParaRPr lang="en-US" b="1">
              <a:solidFill>
                <a:schemeClr val="tx2"/>
              </a:solidFill>
            </a:endParaRPr>
          </a:p>
          <a:p>
            <a:pPr algn="l"/>
            <a:endParaRPr lang="en-US"/>
          </a:p>
          <a:p>
            <a:r>
              <a:rPr lang="en-US" b="1">
                <a:solidFill>
                  <a:schemeClr val="tx2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 M. Mohler and R. Mihalcea, "Text-to-text semantic similarity for automatic short answer grading," in Proc. of the 12th Conf. of the European Chapter of the ACL, 2009, pp. 567-575.</a:t>
            </a:r>
            <a:r>
              <a:rPr lang="en-US" b="1">
                <a:solidFill>
                  <a:schemeClr val="tx2"/>
                </a:solidFill>
                <a:ea typeface="+mn-lt"/>
                <a:cs typeface="+mn-lt"/>
              </a:rPr>
              <a:t> </a:t>
            </a:r>
            <a:endParaRPr lang="en-US" b="1">
              <a:solidFill>
                <a:schemeClr val="tx2"/>
              </a:solidFill>
            </a:endParaRPr>
          </a:p>
          <a:p>
            <a:endParaRPr lang="en-US"/>
          </a:p>
          <a:p>
            <a:r>
              <a:rPr lang="en-US" b="1">
                <a:solidFill>
                  <a:schemeClr val="tx2"/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 J. Devlin, M. W. Chang, K. Lee, and K. Toutanova, "BERT: Pre-training of deep bidirectional transformers for language understanding," in Proc. of NAACL-HLT, 2019, pp. 4171-4186.</a:t>
            </a:r>
            <a:endParaRPr lang="en-US" b="1">
              <a:solidFill>
                <a:schemeClr val="tx2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7F6BE-6262-2663-7725-EC14385F7F7D}"/>
              </a:ext>
            </a:extLst>
          </p:cNvPr>
          <p:cNvSpPr txBox="1"/>
          <p:nvPr/>
        </p:nvSpPr>
        <p:spPr>
          <a:xfrm>
            <a:off x="1857469" y="4476553"/>
            <a:ext cx="848429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8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1726</Words>
  <Application>Microsoft Office PowerPoint</Application>
  <PresentationFormat>Widescreen</PresentationFormat>
  <Paragraphs>213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Amasis MT Pro Black</vt:lpstr>
      <vt:lpstr>Aptos</vt:lpstr>
      <vt:lpstr>Arial</vt:lpstr>
      <vt:lpstr>Arial Unicode MS</vt:lpstr>
      <vt:lpstr>Calisto MT</vt:lpstr>
      <vt:lpstr>Univers Condensed</vt:lpstr>
      <vt:lpstr>Wingdings</vt:lpstr>
      <vt:lpstr>ChronicleVTI</vt:lpstr>
      <vt:lpstr>AUTOMATIC Short-Answer Grading Using NLP</vt:lpstr>
      <vt:lpstr>Roles and Responsibilities</vt:lpstr>
      <vt:lpstr>Problem Statement:</vt:lpstr>
      <vt:lpstr>OBJECTIVES:</vt:lpstr>
      <vt:lpstr>Literature Review:</vt:lpstr>
      <vt:lpstr> How Our Project Improves    Automated Grading</vt:lpstr>
      <vt:lpstr>PowerPoint Presentation</vt:lpstr>
      <vt:lpstr>PowerPoint Presentation</vt:lpstr>
      <vt:lpstr>Data Pre Processing:</vt:lpstr>
      <vt:lpstr>System Workflow - Flowchart</vt:lpstr>
      <vt:lpstr>Proposed Method</vt:lpstr>
      <vt:lpstr>Baseline Model Algorithm (TF-IDF + Ridge Regression)</vt:lpstr>
      <vt:lpstr>Advanced Model Algorithm (BERT Fine-Tuned Cross-Encoder)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Gunavardhan reddy Gopireddy</dc:creator>
  <cp:lastModifiedBy>Gunavardhan reddy Gopireddy</cp:lastModifiedBy>
  <cp:revision>2</cp:revision>
  <dcterms:created xsi:type="dcterms:W3CDTF">2025-11-16T11:22:39Z</dcterms:created>
  <dcterms:modified xsi:type="dcterms:W3CDTF">2025-11-17T21:40:54Z</dcterms:modified>
</cp:coreProperties>
</file>